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3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title>
      <c:tx>
        <c:rich>
          <a:bodyPr/>
          <a:lstStyle/>
          <a:p>
            <a:pPr>
              <a:defRPr sz="2400" b="0" i="0" u="none" strike="noStrike">
                <a:solidFill>
                  <a:srgbClr val="5B6477"/>
                </a:solidFill>
                <a:latin typeface="Arial"/>
              </a:defRPr>
            </a:pPr>
            <a:r>
              <a:rPr lang="ru-RU" sz="2400" b="0" i="0" u="none" strike="noStrike">
                <a:solidFill>
                  <a:srgbClr val="5B6477"/>
                </a:solidFill>
                <a:latin typeface="Arial"/>
              </a:rPr>
              <a:t>Ошибок в час</a:t>
            </a:r>
          </a:p>
        </c:rich>
      </c:tx>
      <c:overlay val="0"/>
    </c:title>
    <c:autoTitleDeleted val="0"/>
    <c:plotArea>
      <c:layout/>
      <c:barChart>
        <c:barDir val="col"/>
        <c:grouping val="clustered"/>
        <c:varyColors val="0"/>
        <c:ser>
          <c:idx val="0"/>
          <c:order val="0"/>
          <c:tx>
            <c:strRef>
              <c:f>Sheet1!$B$1</c:f>
              <c:strCache>
                <c:ptCount val="1"/>
                <c:pt idx="0">
                  <c:v>Ошибки</c:v>
                </c:pt>
              </c:strCache>
            </c:strRef>
          </c:tx>
          <c:spPr>
            <a:solidFill>
              <a:srgbClr val="00A79D"/>
            </a:solidFill>
            <a:effectLst/>
          </c:spPr>
          <c:invertIfNegative val="0"/>
          <c:dLbls>
            <c:numFmt formatCode="#,##0" sourceLinked="0"/>
            <c:spPr>
              <a:noFill/>
              <a:ln>
                <a:noFill/>
              </a:ln>
              <a:effectLst/>
            </c:spPr>
            <c:txPr>
              <a:bodyPr/>
              <a:lstStyle/>
              <a:p>
                <a:pPr>
                  <a:defRPr sz="2000" b="0" i="0" u="none" strike="noStrike">
                    <a:solidFill>
                      <a:srgbClr val="1C2333"/>
                    </a:solidFill>
                    <a:latin typeface="Aria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00:00</c:v>
                </c:pt>
                <c:pt idx="1">
                  <c:v>01:00</c:v>
                </c:pt>
                <c:pt idx="2">
                  <c:v>02:00</c:v>
                </c:pt>
                <c:pt idx="3">
                  <c:v>03:00</c:v>
                </c:pt>
                <c:pt idx="4">
                  <c:v>04:00</c:v>
                </c:pt>
                <c:pt idx="5">
                  <c:v>05:00</c:v>
                </c:pt>
              </c:strCache>
            </c:strRef>
          </c:cat>
          <c:val>
            <c:numRef>
              <c:f>Sheet1!$B$2:$B$7</c:f>
              <c:numCache>
                <c:formatCode>General</c:formatCode>
                <c:ptCount val="6"/>
                <c:pt idx="0">
                  <c:v>12</c:v>
                </c:pt>
                <c:pt idx="1">
                  <c:v>9</c:v>
                </c:pt>
                <c:pt idx="2">
                  <c:v>14</c:v>
                </c:pt>
                <c:pt idx="3">
                  <c:v>168</c:v>
                </c:pt>
                <c:pt idx="4">
                  <c:v>40</c:v>
                </c:pt>
                <c:pt idx="5">
                  <c:v>11</c:v>
                </c:pt>
              </c:numCache>
            </c:numRef>
          </c:val>
          <c:extLst>
            <c:ext xmlns:c16="http://schemas.microsoft.com/office/drawing/2014/chart" uri="{C3380CC4-5D6E-409C-BE32-E72D297353CC}">
              <c16:uniqueId val="{00000000-EC0A-49EB-AF98-AC9C3F22A6E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2000" b="0" i="0" u="none" strike="noStrike">
                <a:solidFill>
                  <a:srgbClr val="5B6477"/>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1106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«Добрый день! Тема нашего доклада — Elastic Stack, платформа для поиска и анализа больших объёмов данных. В первой части я расскажу, какую задачу решает инструмент и как он устроен. Во второй части мой коллега разберёт практические сценарии его применения.»</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«Начнём с проблемы. Современные системы генерируют огромные объёмы данных: каталоги из миллионов товаров, логи серверов — это гигабайты в сутки, события безопасности.
Попробуем искать по такому объёму средствами обычной реляционной базы. Запрос с LIKE и шаблоном '%слово%' не может использовать обычный B-tree индекс, поэтому база перебирает все строки таблицы. Кроме того, такой поиск не понимает опечаток и словоформ и не умеет определять, какой результат релевантнее, то есть лучше подходит под запрос. Для полнотекстового поиска и аналитики по большим данным нужен специализированный инструмент.»</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«Таким инструментом является Elasticsearch — распределённая поисковая и аналитическая система. Её создал Шай Банон в 2010 году, сейчас её развивает компания Elastic. В основе лежит библиотека полнотекстового поиска Apache Lucene, написанная на Java.
Данные хранятся в виде JSON-документов, а все операции — запись, поиск, настройка — выполняются через REST API, то есть обычными HTTP-запросами. Документ становится доступен для поиска примерно через секунду после записи. Это называется поиском почти в реальном времени (near real-time).
Итак, основная задача Elastic — быстрый полнотекстовый поиск и анализ больших объёмов данных, в том числе неструктурированных, вроде текста и логов.»</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«Высокая скорость поиска достигается за счёт инвертированного индекса. Принцип тот же, что у предметного указателя в конце книги: не "документ → слова", а "слово → документы, где оно встречается".
Перед индексацией текст проходит через анализатор. Он разбивает текст на отдельные слова (токенизация), приводит их к нижнему регистру, удаляет стоп-слова вроде предлогов и выполняет стемминг, то есть отбрасывает окончания. Поэтому "Кроссовки" и "кроссовок" сводятся к одному термину.
При поиске запрос проходит через тот же анализатор, после чего система сразу берёт готовые списки документов по каждому термину. Перебора всех записей не происходит, поэтому поиск по миллионам документов занимает миллисекунды.»</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«Найти документы мало, их нужно правильно упорядочить. Для этого Elasticsearch вычисляет для каждого результата оценку релевантности по алгоритму BM25. Он учитывает три фактора: как часто слово встречается в документе, насколько слово редкое во всей коллекции и какова длина поля. Совпадение по редкому слову в коротком заголовке ценится выше, чем по частому слову в длинном описании.
Второе важное свойство — нечёткий поиск (fuzziness). Система находит слова, отличающиеся на один-два символа по расстоянию Левенштейна, поэтому запрос с опечаткой всё равно даёт результат. Также можно подключить словари синонимов.
В последних версиях добавлен векторный поиск: тексты преобразуются в числовые векторы с помощью нейросетей, и поиск ведётся по смыслу, а не по совпадению слов. Это используется, например, в чат-ботах и RAG-системах.»</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«Elasticsearch изначально проектировался как распределённая система, отсюда и слово elastic — "гибкий, растягиваемый".
Несколько серверов, или узлов, объединяются в кластер. Данные хранятся в индексах — это аналог таблицы. Каждый индекс делится на части — шарды, которые распределяются по разным узлам. Благодаря этому поиск выполняется параллельно, а при росте данных достаточно добавить новые узлы. Это горизонтальное масштабирование.
У каждого шарда есть копии — реплики, расположенные на других узлах. Если один сервер выходит из строя, данные не теряются, и кластер продолжает работать.»</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«Elasticsearch — ядро целой платформы, которую называют Elastic Stack, или ELK по первым буквам основных компонентов.
Beats и Elastic Agent — лёгкие агенты, которые устанавливаются на серверы и собирают данные: логи, метрики, сетевые события.
Logstash — конвейер обработки данных по схеме input → filter → output. Он принимает данные из разных источников, разбирает их, обогащает и отправляет дальше.
Elasticsearch хранит и индексирует данные, выполняет поиск и агрегации.
Kibana — веб-интерфейс для визуализации: дашборды, графики, поиск по данным, настройка оповещений.»</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«Важно понимать, что Elasticsearch обычно не заменяет основную базу данных. Он не поддерживает полноценные ACID-транзакции и сложные связи между таблицами, как реляционные СУБД.
Типичная архитектура такая: основные данные хранятся, например, в PostgreSQL, а их копия синхронизируется в Elasticsearch, где по ней выполняется поиск и аналитика. Каждый инструмент решает свою задачу.
Подведу итог первой части. Elastic решает задачу быстрого поиска и анализа больших данных за счёт инвертированного индекса, ранжирования по релевантности и распределённой архитектуры. О том, как это применяется на практике, расскажет мой коллега.»</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«Спасибо! Сама компания Elastic выделяет три основных направления использования платформы.
Search — поиск по сайтам, приложениям и внутренним документам. Observability — наблюдаемость, то есть мониторинг работы систем через логи, метрики и трассировки. Security — обнаружение угроз и расследование инцидентов безопасности. Разберём прикладную задачу для каждого из них.»</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«Первая задача — поиск по каталогу интернет-магазина. Товары хранятся в PostgreSQL и синхронизируются в индекс products в Elasticsearch. Пользователь вводит "красные кросовки" — с опечаткой — и выбирает размер 42 и цену до 10 000 рублей. Бэкенд отправляет такой запрос:
  GET /products/_search
  {
  "query": {
  "bool": {
  "must": { "multi_match": {
  "query": "красные кросовки",
  "fields": ["name^3", "description"],
  "fuzziness": "AUTO" } },
  "filter": [
  { "term": { "size": 42 } },
  { "range": { "price": { "lte": 10000 } } } ]
  }
  },
  "aggs": { "brands": { "terms": { "field": "brand" } } }
  }
«Разберём запрос. Блок must ищет текст по названию и описанию, причём совпадение в названии весит в три раза больше — это обозначено как name^3. Параметр fuzziness исправляет опечатку. Блок filter отбирает товары по размеру и цене. Фильтры не влияют на оценку релевантности и кэшируются, поэтому работают очень быстро. Блок aggs считает, сколько найденных товаров у каждого бренда.»</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«Вот что в итоге видит покупатель. Результаты отсортированы по релевантности, причём к ней можно добавить популярность товара или наличие на складе. Слева — фильтры по брендам с количеством товаров, это и есть результат агрегации. Такие фильтры называют фасетами. При вводе текста работает автодополнение — для него в Elasticsearch есть специальный тип поля search_as_you_type.
Весь запрос выполняется за десятки миллисекунд даже на каталоге из миллионов позиций. Для бизнеса это означает прямой рост конверсии: пользователь находит товар, даже если ошибся в написании.»</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«Вторая задача — наблюдаемость. Допустим, у нас приложение из десятков микросервисов на разных серверах, и каждый пишет свои логи. Искать ошибку, подключаясь к каждому серверу по отдельности, — долго и неудобно.
Решение: на каждый сервер ставится Filebeat, он отправляет логи в Logstash. Logstash с помощью фильтра grok разбирает неструктурированную строку на поля:
  2025-12-01 03:12:45 ERROR payment Timeout to bank API
  %{TIMESTAMP_ISO8601:time} %{LOGLEVEL:level}
  %{WORD:service} %{GREEDYDATA:message}
«Теперь каждая запись — структурированный документ с полями time, level, service и message. В Kibana инженер пишет запрос на языке KQL: service : "payment" and level : "ERROR" — и за секунду получает все ошибки платёжного сервиса со всех серверов.»</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«Логи мало собрать, на них нужно реагировать. В Kibana настраивается правило оповещения, например: "если за 5 минут более 100 ошибок уровня ERROR — отправить сообщение в Slack, Telegram или на почту".
Разберём сценарий. В три часа ночи отваливается API банка. Правило срабатывает, дежурный получает уведомление, открывает дашборд и видит всплеск ошибок именно в сервисе payment. Дополнительно модуль APM — мониторинг производительности приложений — показывает трассировку: через какие сервисы прошёл запрос и где именно возникла задержка. Время поиска причины сокращается с часов до минут.»</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«Третья задача — безопасность. Elastic Security работает как SIEM-система, то есть собирает события безопасности со всей инфраструктуры и анализирует их.
Пример — атака перебором паролей. В Elasticsearch поступают события аутентификации со всех серверов. Правило обнаружения срабатывает, если с одного IP-адреса поступило более 50 неудачных попыток входа за минуту. Аналитик получает инцидент, видит хронологию действий атакующего и может заблокировать адрес.
Кроме заранее заданных правил используются модели машинного обучения, которые находят аномалии. Например, пользователь, который всегда входит днём из Москвы, вдруг заходит ночью из другой страны.»</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«Elasticsearch — один из самых популярных поисковых движков в мире. Его применяют крупные компании из электронной коммерции, стриминга, финансов и транспорта для поиска и мониторинга.
Из альтернатив стоит назвать OpenSearch — форк Elasticsearch, созданный Amazon в 2021 году после смены лицензии Elastic; Apache Solr — тоже построенный на Lucene; и коммерческий Splunk для анализа логов. При этом у Elastic есть бесплатная версия, а с 2024 года код снова доступен в том числе под открытой лицензией AGPL.»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«Подведём итоги. Основная задача Elastic — быстрый полнотекстовый поиск и анализ больших объёмов данных. Она решается за счёт инвертированного индекса, ранжирования по релевантности и горизонтального масштабирования.
На практике платформа применяется для поиска на сайтах и в приложениях, для централизованного мониторинга и сбора логов, а также для обнаружения угроз информационной безопасности. Спасибо за внимание! Готовы ответить на ваши вопросы.»</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13F"/>
        </a:solidFill>
        <a:effectLst/>
      </p:bgPr>
    </p:bg>
    <p:spTree>
      <p:nvGrpSpPr>
        <p:cNvPr id="1" name=""/>
        <p:cNvGrpSpPr/>
        <p:nvPr/>
      </p:nvGrpSpPr>
      <p:grpSpPr>
        <a:xfrm>
          <a:off x="0" y="0"/>
          <a:ext cx="0" cy="0"/>
          <a:chOff x="0" y="0"/>
          <a:chExt cx="0" cy="0"/>
        </a:xfrm>
      </p:grpSpPr>
      <p:sp>
        <p:nvSpPr>
          <p:cNvPr id="3" name="Text 0"/>
          <p:cNvSpPr txBox="1"/>
          <p:nvPr/>
        </p:nvSpPr>
        <p:spPr>
          <a:xfrm>
            <a:off x="731520" y="1554480"/>
            <a:ext cx="6858000" cy="1097280"/>
          </a:xfrm>
          <a:prstGeom prst="rect">
            <a:avLst/>
          </a:prstGeom>
          <a:noFill/>
          <a:ln/>
        </p:spPr>
        <p:txBody>
          <a:bodyPr wrap="square" lIns="0" tIns="0" rIns="0" bIns="0" rtlCol="0" anchor="ctr"/>
          <a:lstStyle/>
          <a:p>
            <a:pPr marL="0" indent="0">
              <a:buNone/>
            </a:pPr>
            <a:r>
              <a:rPr lang="en-US" sz="6000" b="1" dirty="0">
                <a:solidFill>
                  <a:srgbClr val="FFFFFF"/>
                </a:solidFill>
                <a:latin typeface="Arial" pitchFamily="34" charset="0"/>
                <a:ea typeface="Arial" pitchFamily="34" charset="-122"/>
                <a:cs typeface="Arial" pitchFamily="34" charset="-120"/>
              </a:rPr>
              <a:t>Elastic Stack</a:t>
            </a:r>
            <a:endParaRPr lang="en-US" sz="6000" dirty="0"/>
          </a:p>
        </p:txBody>
      </p:sp>
      <p:sp>
        <p:nvSpPr>
          <p:cNvPr id="4" name="Text 1"/>
          <p:cNvSpPr txBox="1"/>
          <p:nvPr/>
        </p:nvSpPr>
        <p:spPr>
          <a:xfrm>
            <a:off x="731520" y="2651760"/>
            <a:ext cx="6858000" cy="731520"/>
          </a:xfrm>
          <a:prstGeom prst="rect">
            <a:avLst/>
          </a:prstGeom>
          <a:noFill/>
          <a:ln/>
        </p:spPr>
        <p:txBody>
          <a:bodyPr wrap="square" lIns="0" tIns="0" rIns="0" bIns="0" rtlCol="0" anchor="ctr"/>
          <a:lstStyle/>
          <a:p>
            <a:pPr marL="0" indent="0">
              <a:buNone/>
            </a:pPr>
            <a:r>
              <a:rPr lang="en-US" sz="3200" dirty="0">
                <a:solidFill>
                  <a:srgbClr val="CADCFC"/>
                </a:solidFill>
                <a:latin typeface="Calibri" pitchFamily="34" charset="0"/>
                <a:ea typeface="Calibri" pitchFamily="34" charset="-122"/>
                <a:cs typeface="Calibri" pitchFamily="34" charset="-120"/>
              </a:rPr>
              <a:t>Поиск и анализ больших данных</a:t>
            </a:r>
            <a:endParaRPr lang="en-US" sz="3200" dirty="0"/>
          </a:p>
        </p:txBody>
      </p:sp>
      <p:sp>
        <p:nvSpPr>
          <p:cNvPr id="5" name="Text 2"/>
          <p:cNvSpPr txBox="1"/>
          <p:nvPr/>
        </p:nvSpPr>
        <p:spPr>
          <a:xfrm>
            <a:off x="731520" y="4206240"/>
            <a:ext cx="6858000" cy="1188720"/>
          </a:xfrm>
          <a:prstGeom prst="rect">
            <a:avLst/>
          </a:prstGeom>
          <a:noFill/>
          <a:ln/>
        </p:spPr>
        <p:txBody>
          <a:bodyPr wrap="square" lIns="0" tIns="0" rIns="0" bIns="0" rtlCol="0" anchor="t"/>
          <a:lstStyle/>
          <a:p>
            <a:pPr marL="0" indent="0">
              <a:buNone/>
            </a:pPr>
            <a:r>
              <a:rPr lang="ru-RU" sz="3000" dirty="0">
                <a:solidFill>
                  <a:srgbClr val="FFFFFF"/>
                </a:solidFill>
                <a:latin typeface="Calibri" pitchFamily="34" charset="0"/>
                <a:ea typeface="Calibri" pitchFamily="34" charset="-122"/>
                <a:cs typeface="Calibri" pitchFamily="34" charset="-120"/>
              </a:rPr>
              <a:t>Дицель Н. С.</a:t>
            </a:r>
            <a:r>
              <a:rPr lang="en-US" sz="3000" dirty="0">
                <a:solidFill>
                  <a:srgbClr val="FFFFFF"/>
                </a:solidFill>
                <a:latin typeface="Calibri" pitchFamily="34" charset="0"/>
                <a:ea typeface="Calibri" pitchFamily="34" charset="-122"/>
                <a:cs typeface="Calibri" pitchFamily="34" charset="-120"/>
              </a:rPr>
              <a:t> ·  </a:t>
            </a:r>
            <a:r>
              <a:rPr lang="ru-RU" sz="3000" dirty="0">
                <a:solidFill>
                  <a:srgbClr val="FFFFFF"/>
                </a:solidFill>
                <a:latin typeface="Calibri" pitchFamily="34" charset="0"/>
                <a:ea typeface="Calibri" pitchFamily="34" charset="-122"/>
                <a:cs typeface="Calibri" pitchFamily="34" charset="-120"/>
              </a:rPr>
              <a:t>Румянцев А. А.</a:t>
            </a:r>
            <a:endParaRPr lang="en-US" sz="3000" dirty="0"/>
          </a:p>
          <a:p>
            <a:pPr marL="0" indent="0">
              <a:buNone/>
            </a:pPr>
            <a:r>
              <a:rPr lang="en-US" sz="3000" dirty="0" err="1">
                <a:solidFill>
                  <a:srgbClr val="FFFFFF"/>
                </a:solidFill>
                <a:latin typeface="Calibri" pitchFamily="34" charset="0"/>
                <a:ea typeface="Calibri" pitchFamily="34" charset="-122"/>
                <a:cs typeface="Calibri" pitchFamily="34" charset="-120"/>
              </a:rPr>
              <a:t>Группа</a:t>
            </a:r>
            <a:r>
              <a:rPr lang="ru-RU" sz="3000" dirty="0">
                <a:solidFill>
                  <a:srgbClr val="FFFFFF"/>
                </a:solidFill>
                <a:latin typeface="Calibri" pitchFamily="34" charset="0"/>
                <a:ea typeface="Calibri" pitchFamily="34" charset="-122"/>
                <a:cs typeface="Calibri" pitchFamily="34" charset="-120"/>
              </a:rPr>
              <a:t> ИКБО-11-23</a:t>
            </a:r>
            <a:endParaRPr lang="en-US" sz="3000" dirty="0"/>
          </a:p>
        </p:txBody>
      </p:sp>
      <p:sp>
        <p:nvSpPr>
          <p:cNvPr id="6" name="Shape 3"/>
          <p:cNvSpPr/>
          <p:nvPr/>
        </p:nvSpPr>
        <p:spPr>
          <a:xfrm>
            <a:off x="8138160" y="1463040"/>
            <a:ext cx="3291840" cy="3291840"/>
          </a:xfrm>
          <a:prstGeom prst="ellipse">
            <a:avLst/>
          </a:prstGeom>
          <a:solidFill>
            <a:srgbClr val="00A79D"/>
          </a:solidFill>
          <a:ln w="12700">
            <a:solidFill>
              <a:srgbClr val="00A79D"/>
            </a:solidFill>
            <a:prstDash val="solid"/>
          </a:ln>
        </p:spPr>
      </p:sp>
      <p:pic>
        <p:nvPicPr>
          <p:cNvPr id="7" name="Image 0" descr="preencoded.png"/>
          <p:cNvPicPr>
            <a:picLocks noChangeAspect="1"/>
          </p:cNvPicPr>
          <p:nvPr/>
        </p:nvPicPr>
        <p:blipFill>
          <a:blip r:embed="rId3"/>
          <a:stretch>
            <a:fillRect/>
          </a:stretch>
        </p:blipFill>
        <p:spPr>
          <a:xfrm>
            <a:off x="8961120" y="2286000"/>
            <a:ext cx="1645920" cy="1645920"/>
          </a:xfrm>
          <a:prstGeom prst="rect">
            <a:avLst/>
          </a:prstGeom>
        </p:spPr>
      </p:pic>
      <p:sp>
        <p:nvSpPr>
          <p:cNvPr id="8" name="Shape 4"/>
          <p:cNvSpPr/>
          <p:nvPr/>
        </p:nvSpPr>
        <p:spPr>
          <a:xfrm>
            <a:off x="7772400" y="4206240"/>
            <a:ext cx="822960" cy="822960"/>
          </a:xfrm>
          <a:prstGeom prst="ellipse">
            <a:avLst/>
          </a:prstGeom>
          <a:solidFill>
            <a:srgbClr val="FEC514"/>
          </a:solidFill>
          <a:ln w="12700">
            <a:solidFill>
              <a:srgbClr val="FEC514"/>
            </a:solidFill>
            <a:prstDash val="solid"/>
          </a:ln>
        </p:spPr>
      </p:sp>
      <p:sp>
        <p:nvSpPr>
          <p:cNvPr id="9" name="Shape 5"/>
          <p:cNvSpPr/>
          <p:nvPr/>
        </p:nvSpPr>
        <p:spPr>
          <a:xfrm>
            <a:off x="10972800" y="1188720"/>
            <a:ext cx="548640" cy="548640"/>
          </a:xfrm>
          <a:prstGeom prst="ellipse">
            <a:avLst/>
          </a:prstGeom>
          <a:solidFill>
            <a:srgbClr val="F04E98"/>
          </a:solidFill>
          <a:ln w="12700">
            <a:solidFill>
              <a:srgbClr val="F04E98"/>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11247120" y="6309360"/>
            <a:ext cx="640080" cy="365760"/>
          </a:xfrm>
          <a:prstGeom prst="rect">
            <a:avLst/>
          </a:prstGeom>
          <a:noFill/>
          <a:ln/>
        </p:spPr>
        <p:txBody>
          <a:bodyPr wrap="square" lIns="0" tIns="0" rIns="0" bIns="0" rtlCol="0" anchor="ctr"/>
          <a:lstStyle/>
          <a:p>
            <a:pPr marL="0" indent="0" algn="r">
              <a:buNone/>
            </a:pPr>
            <a:r>
              <a:rPr lang="en-US" sz="1400" dirty="0">
                <a:solidFill>
                  <a:srgbClr val="8A93AD"/>
                </a:solidFill>
                <a:latin typeface="Calibri" pitchFamily="34" charset="0"/>
                <a:ea typeface="Calibri" pitchFamily="34" charset="-122"/>
                <a:cs typeface="Calibri" pitchFamily="34" charset="-120"/>
              </a:rPr>
              <a:t>2</a:t>
            </a:r>
            <a:endParaRPr lang="en-US" sz="1400" dirty="0"/>
          </a:p>
        </p:txBody>
      </p:sp>
      <p:sp>
        <p:nvSpPr>
          <p:cNvPr id="4" name="Text 1"/>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4000" b="1" dirty="0">
                <a:solidFill>
                  <a:srgbClr val="15213F"/>
                </a:solidFill>
                <a:latin typeface="Arial" pitchFamily="34" charset="0"/>
                <a:ea typeface="Arial" pitchFamily="34" charset="-122"/>
                <a:cs typeface="Arial" pitchFamily="34" charset="-120"/>
              </a:rPr>
              <a:t>Проблема: поиск по большим данным</a:t>
            </a:r>
            <a:endParaRPr lang="en-US" sz="4000" dirty="0"/>
          </a:p>
        </p:txBody>
      </p:sp>
      <p:sp>
        <p:nvSpPr>
          <p:cNvPr id="5" name="Shape 2"/>
          <p:cNvSpPr/>
          <p:nvPr/>
        </p:nvSpPr>
        <p:spPr>
          <a:xfrm>
            <a:off x="548640" y="1554480"/>
            <a:ext cx="5394960" cy="1828800"/>
          </a:xfrm>
          <a:prstGeom prst="roundRect">
            <a:avLst>
              <a:gd name="adj" fmla="val 7500"/>
            </a:avLst>
          </a:prstGeom>
          <a:solidFill>
            <a:srgbClr val="2B3450"/>
          </a:solidFill>
          <a:ln w="12700">
            <a:solidFill>
              <a:srgbClr val="2B3450"/>
            </a:solidFill>
            <a:prstDash val="solid"/>
          </a:ln>
        </p:spPr>
      </p:sp>
      <p:sp>
        <p:nvSpPr>
          <p:cNvPr id="6" name="Text 3"/>
          <p:cNvSpPr txBox="1"/>
          <p:nvPr/>
        </p:nvSpPr>
        <p:spPr>
          <a:xfrm>
            <a:off x="822960" y="1645920"/>
            <a:ext cx="4937760" cy="1645920"/>
          </a:xfrm>
          <a:prstGeom prst="rect">
            <a:avLst/>
          </a:prstGeom>
          <a:noFill/>
          <a:ln/>
        </p:spPr>
        <p:txBody>
          <a:bodyPr wrap="square" lIns="0" tIns="0" rIns="0" bIns="0" rtlCol="0" anchor="ctr"/>
          <a:lstStyle/>
          <a:p>
            <a:pPr marL="0" indent="0">
              <a:buNone/>
            </a:pPr>
            <a:r>
              <a:rPr lang="en-US" sz="2400" dirty="0">
                <a:solidFill>
                  <a:srgbClr val="FFFFFF"/>
                </a:solidFill>
                <a:latin typeface="Courier New" pitchFamily="34" charset="0"/>
                <a:ea typeface="Courier New" pitchFamily="34" charset="-122"/>
                <a:cs typeface="Courier New" pitchFamily="34" charset="-120"/>
              </a:rPr>
              <a:t>SELECT * FROM products</a:t>
            </a:r>
            <a:endParaRPr lang="en-US" sz="2400" dirty="0"/>
          </a:p>
          <a:p>
            <a:pPr marL="0" indent="0">
              <a:buNone/>
            </a:pPr>
            <a:r>
              <a:rPr lang="en-US" sz="2400" dirty="0">
                <a:solidFill>
                  <a:srgbClr val="FFFFFF"/>
                </a:solidFill>
                <a:latin typeface="Courier New" pitchFamily="34" charset="0"/>
                <a:ea typeface="Courier New" pitchFamily="34" charset="-122"/>
                <a:cs typeface="Courier New" pitchFamily="34" charset="-120"/>
              </a:rPr>
              <a:t>WHERE name LIKE</a:t>
            </a:r>
            <a:endParaRPr lang="en-US" sz="2400" dirty="0"/>
          </a:p>
          <a:p>
            <a:pPr marL="0" indent="0">
              <a:buNone/>
            </a:pPr>
            <a:r>
              <a:rPr lang="en-US" sz="2400" dirty="0">
                <a:solidFill>
                  <a:srgbClr val="FFFFFF"/>
                </a:solidFill>
                <a:latin typeface="Courier New" pitchFamily="34" charset="0"/>
                <a:ea typeface="Courier New" pitchFamily="34" charset="-122"/>
                <a:cs typeface="Courier New" pitchFamily="34" charset="-120"/>
              </a:rPr>
              <a:t>'%кроссовки%'</a:t>
            </a:r>
            <a:endParaRPr lang="en-US" sz="2400" dirty="0"/>
          </a:p>
        </p:txBody>
      </p:sp>
      <p:sp>
        <p:nvSpPr>
          <p:cNvPr id="7" name="Shape 4"/>
          <p:cNvSpPr/>
          <p:nvPr/>
        </p:nvSpPr>
        <p:spPr>
          <a:xfrm>
            <a:off x="2103120" y="3749040"/>
            <a:ext cx="2194560" cy="2194560"/>
          </a:xfrm>
          <a:prstGeom prst="ellipse">
            <a:avLst/>
          </a:prstGeom>
          <a:solidFill>
            <a:srgbClr val="E6E9EF"/>
          </a:solidFill>
          <a:ln w="12700">
            <a:solidFill>
              <a:srgbClr val="E6E9EF"/>
            </a:solidFill>
            <a:prstDash val="solid"/>
          </a:ln>
        </p:spPr>
      </p:sp>
      <p:pic>
        <p:nvPicPr>
          <p:cNvPr id="8" name="Image 0" descr="preencoded.png"/>
          <p:cNvPicPr>
            <a:picLocks noChangeAspect="1"/>
          </p:cNvPicPr>
          <p:nvPr/>
        </p:nvPicPr>
        <p:blipFill>
          <a:blip r:embed="rId3"/>
          <a:stretch>
            <a:fillRect/>
          </a:stretch>
        </p:blipFill>
        <p:spPr>
          <a:xfrm>
            <a:off x="2651760" y="4297680"/>
            <a:ext cx="1097280" cy="1097280"/>
          </a:xfrm>
          <a:prstGeom prst="rect">
            <a:avLst/>
          </a:prstGeom>
        </p:spPr>
      </p:pic>
      <p:sp>
        <p:nvSpPr>
          <p:cNvPr id="9" name="Text 5"/>
          <p:cNvSpPr txBox="1"/>
          <p:nvPr/>
        </p:nvSpPr>
        <p:spPr>
          <a:xfrm>
            <a:off x="548640" y="5943600"/>
            <a:ext cx="5394960" cy="548640"/>
          </a:xfrm>
          <a:prstGeom prst="rect">
            <a:avLst/>
          </a:prstGeom>
          <a:noFill/>
          <a:ln/>
        </p:spPr>
        <p:txBody>
          <a:bodyPr wrap="square" lIns="0" tIns="0" rIns="0" bIns="0" rtlCol="0" anchor="ctr"/>
          <a:lstStyle/>
          <a:p>
            <a:pPr marL="0" indent="0" algn="ctr">
              <a:buNone/>
            </a:pPr>
            <a:r>
              <a:rPr lang="en-US" sz="3000" i="1" dirty="0">
                <a:solidFill>
                  <a:srgbClr val="5B6477"/>
                </a:solidFill>
                <a:latin typeface="Calibri" pitchFamily="34" charset="0"/>
                <a:ea typeface="Calibri" pitchFamily="34" charset="-122"/>
                <a:cs typeface="Calibri" pitchFamily="34" charset="-120"/>
              </a:rPr>
              <a:t>секунды… минуты</a:t>
            </a:r>
            <a:endParaRPr lang="en-US" sz="3000" dirty="0"/>
          </a:p>
        </p:txBody>
      </p:sp>
      <p:sp>
        <p:nvSpPr>
          <p:cNvPr id="10" name="Shape 6"/>
          <p:cNvSpPr/>
          <p:nvPr/>
        </p:nvSpPr>
        <p:spPr>
          <a:xfrm>
            <a:off x="6583680" y="1645920"/>
            <a:ext cx="1097280" cy="1097280"/>
          </a:xfrm>
          <a:prstGeom prst="ellipse">
            <a:avLst/>
          </a:prstGeom>
          <a:solidFill>
            <a:srgbClr val="F04E98"/>
          </a:solidFill>
          <a:ln w="12700">
            <a:solidFill>
              <a:srgbClr val="F04E98"/>
            </a:solidFill>
            <a:prstDash val="solid"/>
          </a:ln>
        </p:spPr>
      </p:sp>
      <p:pic>
        <p:nvPicPr>
          <p:cNvPr id="11" name="Image 1" descr="preencoded.png"/>
          <p:cNvPicPr>
            <a:picLocks noChangeAspect="1"/>
          </p:cNvPicPr>
          <p:nvPr/>
        </p:nvPicPr>
        <p:blipFill>
          <a:blip r:embed="rId4"/>
          <a:stretch>
            <a:fillRect/>
          </a:stretch>
        </p:blipFill>
        <p:spPr>
          <a:xfrm>
            <a:off x="6858000" y="1920240"/>
            <a:ext cx="548640" cy="548640"/>
          </a:xfrm>
          <a:prstGeom prst="rect">
            <a:avLst/>
          </a:prstGeom>
        </p:spPr>
      </p:pic>
      <p:sp>
        <p:nvSpPr>
          <p:cNvPr id="12" name="Text 7"/>
          <p:cNvSpPr txBox="1"/>
          <p:nvPr/>
        </p:nvSpPr>
        <p:spPr>
          <a:xfrm>
            <a:off x="7955280" y="1645920"/>
            <a:ext cx="3749040" cy="1097280"/>
          </a:xfrm>
          <a:prstGeom prst="rect">
            <a:avLst/>
          </a:prstGeom>
          <a:noFill/>
          <a:ln/>
        </p:spPr>
        <p:txBody>
          <a:bodyPr wrap="square" lIns="0" tIns="0" rIns="0" bIns="0" rtlCol="0" anchor="ctr"/>
          <a:lstStyle/>
          <a:p>
            <a:pPr marL="0" indent="0">
              <a:buNone/>
            </a:pPr>
            <a:r>
              <a:rPr lang="en-US" sz="3000" b="1" dirty="0">
                <a:solidFill>
                  <a:srgbClr val="1C2333"/>
                </a:solidFill>
                <a:latin typeface="Calibri" pitchFamily="34" charset="0"/>
                <a:ea typeface="Calibri" pitchFamily="34" charset="-122"/>
                <a:cs typeface="Calibri" pitchFamily="34" charset="-120"/>
              </a:rPr>
              <a:t>Полный перебор строк</a:t>
            </a:r>
            <a:endParaRPr lang="en-US" sz="3000" dirty="0"/>
          </a:p>
        </p:txBody>
      </p:sp>
      <p:sp>
        <p:nvSpPr>
          <p:cNvPr id="13" name="Shape 8"/>
          <p:cNvSpPr/>
          <p:nvPr/>
        </p:nvSpPr>
        <p:spPr>
          <a:xfrm>
            <a:off x="6583680" y="3154680"/>
            <a:ext cx="1097280" cy="1097280"/>
          </a:xfrm>
          <a:prstGeom prst="ellipse">
            <a:avLst/>
          </a:prstGeom>
          <a:solidFill>
            <a:srgbClr val="F04E98"/>
          </a:solidFill>
          <a:ln w="12700">
            <a:solidFill>
              <a:srgbClr val="F04E98"/>
            </a:solidFill>
            <a:prstDash val="solid"/>
          </a:ln>
        </p:spPr>
      </p:sp>
      <p:pic>
        <p:nvPicPr>
          <p:cNvPr id="14" name="Image 2" descr="preencoded.png"/>
          <p:cNvPicPr>
            <a:picLocks noChangeAspect="1"/>
          </p:cNvPicPr>
          <p:nvPr/>
        </p:nvPicPr>
        <p:blipFill>
          <a:blip r:embed="rId5"/>
          <a:stretch>
            <a:fillRect/>
          </a:stretch>
        </p:blipFill>
        <p:spPr>
          <a:xfrm>
            <a:off x="6858000" y="3429000"/>
            <a:ext cx="548640" cy="548640"/>
          </a:xfrm>
          <a:prstGeom prst="rect">
            <a:avLst/>
          </a:prstGeom>
        </p:spPr>
      </p:pic>
      <p:sp>
        <p:nvSpPr>
          <p:cNvPr id="15" name="Text 9"/>
          <p:cNvSpPr txBox="1"/>
          <p:nvPr/>
        </p:nvSpPr>
        <p:spPr>
          <a:xfrm>
            <a:off x="7955280" y="3154680"/>
            <a:ext cx="3749040" cy="1097280"/>
          </a:xfrm>
          <a:prstGeom prst="rect">
            <a:avLst/>
          </a:prstGeom>
          <a:noFill/>
          <a:ln/>
        </p:spPr>
        <p:txBody>
          <a:bodyPr wrap="square" lIns="0" tIns="0" rIns="0" bIns="0" rtlCol="0" anchor="ctr"/>
          <a:lstStyle/>
          <a:p>
            <a:pPr marL="0" indent="0">
              <a:buNone/>
            </a:pPr>
            <a:r>
              <a:rPr lang="en-US" sz="3000" b="1" dirty="0">
                <a:solidFill>
                  <a:srgbClr val="1C2333"/>
                </a:solidFill>
                <a:latin typeface="Calibri" pitchFamily="34" charset="0"/>
                <a:ea typeface="Calibri" pitchFamily="34" charset="-122"/>
                <a:cs typeface="Calibri" pitchFamily="34" charset="-120"/>
              </a:rPr>
              <a:t>Не понимает опечатки</a:t>
            </a:r>
            <a:endParaRPr lang="en-US" sz="3000" dirty="0"/>
          </a:p>
        </p:txBody>
      </p:sp>
      <p:sp>
        <p:nvSpPr>
          <p:cNvPr id="16" name="Shape 10"/>
          <p:cNvSpPr/>
          <p:nvPr/>
        </p:nvSpPr>
        <p:spPr>
          <a:xfrm>
            <a:off x="6583680" y="4663440"/>
            <a:ext cx="1097280" cy="1097280"/>
          </a:xfrm>
          <a:prstGeom prst="ellipse">
            <a:avLst/>
          </a:prstGeom>
          <a:solidFill>
            <a:srgbClr val="F04E98"/>
          </a:solidFill>
          <a:ln w="12700">
            <a:solidFill>
              <a:srgbClr val="F04E98"/>
            </a:solidFill>
            <a:prstDash val="solid"/>
          </a:ln>
        </p:spPr>
      </p:sp>
      <p:pic>
        <p:nvPicPr>
          <p:cNvPr id="17" name="Image 3" descr="preencoded.png"/>
          <p:cNvPicPr>
            <a:picLocks noChangeAspect="1"/>
          </p:cNvPicPr>
          <p:nvPr/>
        </p:nvPicPr>
        <p:blipFill>
          <a:blip r:embed="rId6"/>
          <a:stretch>
            <a:fillRect/>
          </a:stretch>
        </p:blipFill>
        <p:spPr>
          <a:xfrm>
            <a:off x="6858000" y="4937760"/>
            <a:ext cx="548640" cy="548640"/>
          </a:xfrm>
          <a:prstGeom prst="rect">
            <a:avLst/>
          </a:prstGeom>
        </p:spPr>
      </p:pic>
      <p:sp>
        <p:nvSpPr>
          <p:cNvPr id="18" name="Text 11"/>
          <p:cNvSpPr txBox="1"/>
          <p:nvPr/>
        </p:nvSpPr>
        <p:spPr>
          <a:xfrm>
            <a:off x="7955280" y="4663440"/>
            <a:ext cx="3749040" cy="1097280"/>
          </a:xfrm>
          <a:prstGeom prst="rect">
            <a:avLst/>
          </a:prstGeom>
          <a:noFill/>
          <a:ln/>
        </p:spPr>
        <p:txBody>
          <a:bodyPr wrap="square" lIns="0" tIns="0" rIns="0" bIns="0" rtlCol="0" anchor="ctr"/>
          <a:lstStyle/>
          <a:p>
            <a:pPr marL="0" indent="0">
              <a:buNone/>
            </a:pPr>
            <a:r>
              <a:rPr lang="en-US" sz="3000" b="1" dirty="0">
                <a:solidFill>
                  <a:srgbClr val="1C2333"/>
                </a:solidFill>
                <a:latin typeface="Calibri" pitchFamily="34" charset="0"/>
                <a:ea typeface="Calibri" pitchFamily="34" charset="-122"/>
                <a:cs typeface="Calibri" pitchFamily="34" charset="-120"/>
              </a:rPr>
              <a:t>Нет ранжирования</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11247120" y="6309360"/>
            <a:ext cx="640080" cy="365760"/>
          </a:xfrm>
          <a:prstGeom prst="rect">
            <a:avLst/>
          </a:prstGeom>
          <a:noFill/>
          <a:ln/>
        </p:spPr>
        <p:txBody>
          <a:bodyPr wrap="square" lIns="0" tIns="0" rIns="0" bIns="0" rtlCol="0" anchor="ctr"/>
          <a:lstStyle/>
          <a:p>
            <a:pPr marL="0" indent="0" algn="r">
              <a:buNone/>
            </a:pPr>
            <a:r>
              <a:rPr lang="en-US" sz="1400" dirty="0">
                <a:solidFill>
                  <a:srgbClr val="8A93AD"/>
                </a:solidFill>
                <a:latin typeface="Calibri" pitchFamily="34" charset="0"/>
                <a:ea typeface="Calibri" pitchFamily="34" charset="-122"/>
                <a:cs typeface="Calibri" pitchFamily="34" charset="-120"/>
              </a:rPr>
              <a:t>3</a:t>
            </a:r>
            <a:endParaRPr lang="en-US" sz="1400" dirty="0"/>
          </a:p>
        </p:txBody>
      </p:sp>
      <p:sp>
        <p:nvSpPr>
          <p:cNvPr id="4" name="Text 1"/>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4000" b="1" dirty="0">
                <a:solidFill>
                  <a:srgbClr val="15213F"/>
                </a:solidFill>
                <a:latin typeface="Arial" pitchFamily="34" charset="0"/>
                <a:ea typeface="Arial" pitchFamily="34" charset="-122"/>
                <a:cs typeface="Arial" pitchFamily="34" charset="-120"/>
              </a:rPr>
              <a:t>Elasticsearch</a:t>
            </a:r>
            <a:endParaRPr lang="en-US" sz="4000" dirty="0"/>
          </a:p>
        </p:txBody>
      </p:sp>
      <p:sp>
        <p:nvSpPr>
          <p:cNvPr id="5" name="Text 2"/>
          <p:cNvSpPr txBox="1"/>
          <p:nvPr/>
        </p:nvSpPr>
        <p:spPr>
          <a:xfrm>
            <a:off x="548640" y="1554480"/>
            <a:ext cx="4754880" cy="2377440"/>
          </a:xfrm>
          <a:prstGeom prst="rect">
            <a:avLst/>
          </a:prstGeom>
          <a:noFill/>
          <a:ln/>
        </p:spPr>
        <p:txBody>
          <a:bodyPr wrap="square" lIns="0" tIns="0" rIns="0" bIns="0" rtlCol="0" anchor="t"/>
          <a:lstStyle/>
          <a:p>
            <a:pPr marL="0" indent="0">
              <a:buNone/>
            </a:pPr>
            <a:r>
              <a:rPr lang="en-US" sz="3400" b="1" dirty="0">
                <a:solidFill>
                  <a:srgbClr val="15213F"/>
                </a:solidFill>
                <a:latin typeface="Calibri" pitchFamily="34" charset="0"/>
                <a:ea typeface="Calibri" pitchFamily="34" charset="-122"/>
                <a:cs typeface="Calibri" pitchFamily="34" charset="-120"/>
              </a:rPr>
              <a:t>Распределённая система полнотекстового поиска и аналитики</a:t>
            </a:r>
            <a:endParaRPr lang="en-US" sz="3400" dirty="0"/>
          </a:p>
        </p:txBody>
      </p:sp>
      <p:sp>
        <p:nvSpPr>
          <p:cNvPr id="6" name="Text 3"/>
          <p:cNvSpPr txBox="1"/>
          <p:nvPr/>
        </p:nvSpPr>
        <p:spPr>
          <a:xfrm>
            <a:off x="548640" y="4206240"/>
            <a:ext cx="4754880" cy="1280160"/>
          </a:xfrm>
          <a:prstGeom prst="rect">
            <a:avLst/>
          </a:prstGeom>
          <a:noFill/>
          <a:ln/>
        </p:spPr>
        <p:txBody>
          <a:bodyPr wrap="square" lIns="0" tIns="0" rIns="0" bIns="0" rtlCol="0" anchor="t"/>
          <a:lstStyle/>
          <a:p>
            <a:pPr marL="0" indent="0">
              <a:buNone/>
            </a:pPr>
            <a:r>
              <a:rPr lang="en-US" sz="3000" dirty="0">
                <a:solidFill>
                  <a:srgbClr val="5B6477"/>
                </a:solidFill>
                <a:latin typeface="Calibri" pitchFamily="34" charset="0"/>
                <a:ea typeface="Calibri" pitchFamily="34" charset="-122"/>
                <a:cs typeface="Calibri" pitchFamily="34" charset="-120"/>
              </a:rPr>
              <a:t>Создан в 2010 г.</a:t>
            </a:r>
            <a:endParaRPr lang="en-US" sz="3000" dirty="0"/>
          </a:p>
          <a:p>
            <a:pPr marL="0" indent="0">
              <a:buNone/>
            </a:pPr>
            <a:r>
              <a:rPr lang="en-US" sz="3000" dirty="0">
                <a:solidFill>
                  <a:srgbClr val="5B6477"/>
                </a:solidFill>
                <a:latin typeface="Calibri" pitchFamily="34" charset="0"/>
                <a:ea typeface="Calibri" pitchFamily="34" charset="-122"/>
                <a:cs typeface="Calibri" pitchFamily="34" charset="-120"/>
              </a:rPr>
              <a:t>Компания Elastic</a:t>
            </a:r>
            <a:endParaRPr lang="en-US" sz="3000" dirty="0"/>
          </a:p>
        </p:txBody>
      </p:sp>
      <p:sp>
        <p:nvSpPr>
          <p:cNvPr id="7" name="Shape 4"/>
          <p:cNvSpPr/>
          <p:nvPr/>
        </p:nvSpPr>
        <p:spPr>
          <a:xfrm>
            <a:off x="5760720" y="1463040"/>
            <a:ext cx="2834640" cy="2286000"/>
          </a:xfrm>
          <a:prstGeom prst="roundRect">
            <a:avLst>
              <a:gd name="adj" fmla="val 6000"/>
            </a:avLst>
          </a:prstGeom>
          <a:solidFill>
            <a:srgbClr val="F3F6FA"/>
          </a:solidFill>
          <a:ln w="12700">
            <a:solidFill>
              <a:srgbClr val="F3F6FA"/>
            </a:solidFill>
            <a:prstDash val="solid"/>
          </a:ln>
        </p:spPr>
      </p:sp>
      <p:sp>
        <p:nvSpPr>
          <p:cNvPr id="8" name="Shape 5"/>
          <p:cNvSpPr/>
          <p:nvPr/>
        </p:nvSpPr>
        <p:spPr>
          <a:xfrm>
            <a:off x="6675120" y="1691640"/>
            <a:ext cx="1005840" cy="1005840"/>
          </a:xfrm>
          <a:prstGeom prst="ellipse">
            <a:avLst/>
          </a:prstGeom>
          <a:solidFill>
            <a:srgbClr val="00A79D"/>
          </a:solidFill>
          <a:ln w="12700">
            <a:solidFill>
              <a:srgbClr val="00A79D"/>
            </a:solidFill>
            <a:prstDash val="solid"/>
          </a:ln>
        </p:spPr>
      </p:sp>
      <p:pic>
        <p:nvPicPr>
          <p:cNvPr id="9" name="Image 0" descr="preencoded.png"/>
          <p:cNvPicPr>
            <a:picLocks noChangeAspect="1"/>
          </p:cNvPicPr>
          <p:nvPr/>
        </p:nvPicPr>
        <p:blipFill>
          <a:blip r:embed="rId3"/>
          <a:stretch>
            <a:fillRect/>
          </a:stretch>
        </p:blipFill>
        <p:spPr>
          <a:xfrm>
            <a:off x="6926580" y="1943100"/>
            <a:ext cx="502920" cy="502920"/>
          </a:xfrm>
          <a:prstGeom prst="rect">
            <a:avLst/>
          </a:prstGeom>
        </p:spPr>
      </p:pic>
      <p:sp>
        <p:nvSpPr>
          <p:cNvPr id="10" name="Text 6"/>
          <p:cNvSpPr txBox="1"/>
          <p:nvPr/>
        </p:nvSpPr>
        <p:spPr>
          <a:xfrm>
            <a:off x="5852160" y="2834640"/>
            <a:ext cx="2651760" cy="731520"/>
          </a:xfrm>
          <a:prstGeom prst="rect">
            <a:avLst/>
          </a:prstGeom>
          <a:noFill/>
          <a:ln/>
        </p:spPr>
        <p:txBody>
          <a:bodyPr wrap="square" lIns="0" tIns="0" rIns="0" bIns="0" rtlCol="0" anchor="ctr"/>
          <a:lstStyle/>
          <a:p>
            <a:pPr marL="0" indent="0" algn="ctr">
              <a:buNone/>
            </a:pPr>
            <a:r>
              <a:rPr lang="en-US" sz="2800" b="1" dirty="0">
                <a:solidFill>
                  <a:srgbClr val="1C2333"/>
                </a:solidFill>
                <a:latin typeface="Calibri" pitchFamily="34" charset="0"/>
                <a:ea typeface="Calibri" pitchFamily="34" charset="-122"/>
                <a:cs typeface="Calibri" pitchFamily="34" charset="-120"/>
              </a:rPr>
              <a:t>Apache Lucene</a:t>
            </a:r>
            <a:endParaRPr lang="en-US" sz="2800" dirty="0"/>
          </a:p>
        </p:txBody>
      </p:sp>
      <p:sp>
        <p:nvSpPr>
          <p:cNvPr id="11" name="Shape 7"/>
          <p:cNvSpPr/>
          <p:nvPr/>
        </p:nvSpPr>
        <p:spPr>
          <a:xfrm>
            <a:off x="8823960" y="1463040"/>
            <a:ext cx="2834640" cy="2286000"/>
          </a:xfrm>
          <a:prstGeom prst="roundRect">
            <a:avLst>
              <a:gd name="adj" fmla="val 6000"/>
            </a:avLst>
          </a:prstGeom>
          <a:solidFill>
            <a:srgbClr val="F3F6FA"/>
          </a:solidFill>
          <a:ln w="12700">
            <a:solidFill>
              <a:srgbClr val="F3F6FA"/>
            </a:solidFill>
            <a:prstDash val="solid"/>
          </a:ln>
        </p:spPr>
      </p:sp>
      <p:sp>
        <p:nvSpPr>
          <p:cNvPr id="12" name="Shape 8"/>
          <p:cNvSpPr/>
          <p:nvPr/>
        </p:nvSpPr>
        <p:spPr>
          <a:xfrm>
            <a:off x="9738360" y="1691640"/>
            <a:ext cx="1005840" cy="1005840"/>
          </a:xfrm>
          <a:prstGeom prst="ellipse">
            <a:avLst/>
          </a:prstGeom>
          <a:solidFill>
            <a:srgbClr val="0B64DD"/>
          </a:solidFill>
          <a:ln w="12700">
            <a:solidFill>
              <a:srgbClr val="0B64DD"/>
            </a:solidFill>
            <a:prstDash val="solid"/>
          </a:ln>
        </p:spPr>
      </p:sp>
      <p:pic>
        <p:nvPicPr>
          <p:cNvPr id="13" name="Image 1" descr="preencoded.png"/>
          <p:cNvPicPr>
            <a:picLocks noChangeAspect="1"/>
          </p:cNvPicPr>
          <p:nvPr/>
        </p:nvPicPr>
        <p:blipFill>
          <a:blip r:embed="rId4"/>
          <a:stretch>
            <a:fillRect/>
          </a:stretch>
        </p:blipFill>
        <p:spPr>
          <a:xfrm>
            <a:off x="9989820" y="1943100"/>
            <a:ext cx="502920" cy="502920"/>
          </a:xfrm>
          <a:prstGeom prst="rect">
            <a:avLst/>
          </a:prstGeom>
        </p:spPr>
      </p:pic>
      <p:sp>
        <p:nvSpPr>
          <p:cNvPr id="14" name="Text 9"/>
          <p:cNvSpPr txBox="1"/>
          <p:nvPr/>
        </p:nvSpPr>
        <p:spPr>
          <a:xfrm>
            <a:off x="8915400" y="2834640"/>
            <a:ext cx="2651760" cy="731520"/>
          </a:xfrm>
          <a:prstGeom prst="rect">
            <a:avLst/>
          </a:prstGeom>
          <a:noFill/>
          <a:ln/>
        </p:spPr>
        <p:txBody>
          <a:bodyPr wrap="square" lIns="0" tIns="0" rIns="0" bIns="0" rtlCol="0" anchor="ctr"/>
          <a:lstStyle/>
          <a:p>
            <a:pPr marL="0" indent="0" algn="ctr">
              <a:buNone/>
            </a:pPr>
            <a:r>
              <a:rPr lang="en-US" sz="2800" b="1" dirty="0">
                <a:solidFill>
                  <a:srgbClr val="1C2333"/>
                </a:solidFill>
                <a:latin typeface="Calibri" pitchFamily="34" charset="0"/>
                <a:ea typeface="Calibri" pitchFamily="34" charset="-122"/>
                <a:cs typeface="Calibri" pitchFamily="34" charset="-120"/>
              </a:rPr>
              <a:t>JSON-документы</a:t>
            </a:r>
            <a:endParaRPr lang="en-US" sz="2800" dirty="0"/>
          </a:p>
        </p:txBody>
      </p:sp>
      <p:sp>
        <p:nvSpPr>
          <p:cNvPr id="15" name="Shape 10"/>
          <p:cNvSpPr/>
          <p:nvPr/>
        </p:nvSpPr>
        <p:spPr>
          <a:xfrm>
            <a:off x="5760720" y="3977640"/>
            <a:ext cx="2834640" cy="2286000"/>
          </a:xfrm>
          <a:prstGeom prst="roundRect">
            <a:avLst>
              <a:gd name="adj" fmla="val 6000"/>
            </a:avLst>
          </a:prstGeom>
          <a:solidFill>
            <a:srgbClr val="F3F6FA"/>
          </a:solidFill>
          <a:ln w="12700">
            <a:solidFill>
              <a:srgbClr val="F3F6FA"/>
            </a:solidFill>
            <a:prstDash val="solid"/>
          </a:ln>
        </p:spPr>
      </p:sp>
      <p:sp>
        <p:nvSpPr>
          <p:cNvPr id="16" name="Shape 11"/>
          <p:cNvSpPr/>
          <p:nvPr/>
        </p:nvSpPr>
        <p:spPr>
          <a:xfrm>
            <a:off x="6675120" y="4206240"/>
            <a:ext cx="1005840" cy="1005840"/>
          </a:xfrm>
          <a:prstGeom prst="ellipse">
            <a:avLst/>
          </a:prstGeom>
          <a:solidFill>
            <a:srgbClr val="F04E98"/>
          </a:solidFill>
          <a:ln w="12700">
            <a:solidFill>
              <a:srgbClr val="F04E98"/>
            </a:solidFill>
            <a:prstDash val="solid"/>
          </a:ln>
        </p:spPr>
      </p:sp>
      <p:pic>
        <p:nvPicPr>
          <p:cNvPr id="17" name="Image 2" descr="preencoded.png"/>
          <p:cNvPicPr>
            <a:picLocks noChangeAspect="1"/>
          </p:cNvPicPr>
          <p:nvPr/>
        </p:nvPicPr>
        <p:blipFill>
          <a:blip r:embed="rId5"/>
          <a:stretch>
            <a:fillRect/>
          </a:stretch>
        </p:blipFill>
        <p:spPr>
          <a:xfrm>
            <a:off x="6926580" y="4457700"/>
            <a:ext cx="502920" cy="502920"/>
          </a:xfrm>
          <a:prstGeom prst="rect">
            <a:avLst/>
          </a:prstGeom>
        </p:spPr>
      </p:pic>
      <p:sp>
        <p:nvSpPr>
          <p:cNvPr id="18" name="Text 12"/>
          <p:cNvSpPr txBox="1"/>
          <p:nvPr/>
        </p:nvSpPr>
        <p:spPr>
          <a:xfrm>
            <a:off x="5852160" y="5349240"/>
            <a:ext cx="2651760" cy="731520"/>
          </a:xfrm>
          <a:prstGeom prst="rect">
            <a:avLst/>
          </a:prstGeom>
          <a:noFill/>
          <a:ln/>
        </p:spPr>
        <p:txBody>
          <a:bodyPr wrap="square" lIns="0" tIns="0" rIns="0" bIns="0" rtlCol="0" anchor="ctr"/>
          <a:lstStyle/>
          <a:p>
            <a:pPr marL="0" indent="0" algn="ctr">
              <a:buNone/>
            </a:pPr>
            <a:r>
              <a:rPr lang="en-US" sz="2800" b="1" dirty="0">
                <a:solidFill>
                  <a:srgbClr val="1C2333"/>
                </a:solidFill>
                <a:latin typeface="Calibri" pitchFamily="34" charset="0"/>
                <a:ea typeface="Calibri" pitchFamily="34" charset="-122"/>
                <a:cs typeface="Calibri" pitchFamily="34" charset="-120"/>
              </a:rPr>
              <a:t>REST API</a:t>
            </a:r>
            <a:endParaRPr lang="en-US" sz="2800" dirty="0"/>
          </a:p>
        </p:txBody>
      </p:sp>
      <p:sp>
        <p:nvSpPr>
          <p:cNvPr id="19" name="Shape 13"/>
          <p:cNvSpPr/>
          <p:nvPr/>
        </p:nvSpPr>
        <p:spPr>
          <a:xfrm>
            <a:off x="8823960" y="3977640"/>
            <a:ext cx="2834640" cy="2286000"/>
          </a:xfrm>
          <a:prstGeom prst="roundRect">
            <a:avLst>
              <a:gd name="adj" fmla="val 6000"/>
            </a:avLst>
          </a:prstGeom>
          <a:solidFill>
            <a:srgbClr val="F3F6FA"/>
          </a:solidFill>
          <a:ln w="12700">
            <a:solidFill>
              <a:srgbClr val="F3F6FA"/>
            </a:solidFill>
            <a:prstDash val="solid"/>
          </a:ln>
        </p:spPr>
      </p:sp>
      <p:sp>
        <p:nvSpPr>
          <p:cNvPr id="20" name="Shape 14"/>
          <p:cNvSpPr/>
          <p:nvPr/>
        </p:nvSpPr>
        <p:spPr>
          <a:xfrm>
            <a:off x="9738360" y="4206240"/>
            <a:ext cx="1005840" cy="1005840"/>
          </a:xfrm>
          <a:prstGeom prst="ellipse">
            <a:avLst/>
          </a:prstGeom>
          <a:solidFill>
            <a:srgbClr val="FEC514"/>
          </a:solidFill>
          <a:ln w="12700">
            <a:solidFill>
              <a:srgbClr val="FEC514"/>
            </a:solidFill>
            <a:prstDash val="solid"/>
          </a:ln>
        </p:spPr>
      </p:sp>
      <p:pic>
        <p:nvPicPr>
          <p:cNvPr id="21" name="Image 3" descr="preencoded.png"/>
          <p:cNvPicPr>
            <a:picLocks noChangeAspect="1"/>
          </p:cNvPicPr>
          <p:nvPr/>
        </p:nvPicPr>
        <p:blipFill>
          <a:blip r:embed="rId6"/>
          <a:stretch>
            <a:fillRect/>
          </a:stretch>
        </p:blipFill>
        <p:spPr>
          <a:xfrm>
            <a:off x="9989820" y="4457700"/>
            <a:ext cx="502920" cy="502920"/>
          </a:xfrm>
          <a:prstGeom prst="rect">
            <a:avLst/>
          </a:prstGeom>
        </p:spPr>
      </p:pic>
      <p:sp>
        <p:nvSpPr>
          <p:cNvPr id="22" name="Text 15"/>
          <p:cNvSpPr txBox="1"/>
          <p:nvPr/>
        </p:nvSpPr>
        <p:spPr>
          <a:xfrm>
            <a:off x="8915400" y="5349240"/>
            <a:ext cx="2651760" cy="731520"/>
          </a:xfrm>
          <a:prstGeom prst="rect">
            <a:avLst/>
          </a:prstGeom>
          <a:noFill/>
          <a:ln/>
        </p:spPr>
        <p:txBody>
          <a:bodyPr wrap="square" lIns="0" tIns="0" rIns="0" bIns="0" rtlCol="0" anchor="ctr"/>
          <a:lstStyle/>
          <a:p>
            <a:pPr marL="0" indent="0" algn="ctr">
              <a:buNone/>
            </a:pPr>
            <a:r>
              <a:rPr lang="en-US" sz="2800" b="1" dirty="0">
                <a:solidFill>
                  <a:srgbClr val="1C2333"/>
                </a:solidFill>
                <a:latin typeface="Calibri" pitchFamily="34" charset="0"/>
                <a:ea typeface="Calibri" pitchFamily="34" charset="-122"/>
                <a:cs typeface="Calibri" pitchFamily="34" charset="-120"/>
              </a:rPr>
              <a:t>≈ 1 секунда</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11247120" y="6309360"/>
            <a:ext cx="640080" cy="365760"/>
          </a:xfrm>
          <a:prstGeom prst="rect">
            <a:avLst/>
          </a:prstGeom>
          <a:noFill/>
          <a:ln/>
        </p:spPr>
        <p:txBody>
          <a:bodyPr wrap="square" lIns="0" tIns="0" rIns="0" bIns="0" rtlCol="0" anchor="ctr"/>
          <a:lstStyle/>
          <a:p>
            <a:pPr marL="0" indent="0" algn="r">
              <a:buNone/>
            </a:pPr>
            <a:r>
              <a:rPr lang="en-US" sz="1400" dirty="0">
                <a:solidFill>
                  <a:srgbClr val="8A93AD"/>
                </a:solidFill>
                <a:latin typeface="Calibri" pitchFamily="34" charset="0"/>
                <a:ea typeface="Calibri" pitchFamily="34" charset="-122"/>
                <a:cs typeface="Calibri" pitchFamily="34" charset="-120"/>
              </a:rPr>
              <a:t>4</a:t>
            </a:r>
            <a:endParaRPr lang="en-US" sz="1400" dirty="0"/>
          </a:p>
        </p:txBody>
      </p:sp>
      <p:sp>
        <p:nvSpPr>
          <p:cNvPr id="4" name="Text 1"/>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4000" b="1" dirty="0">
                <a:solidFill>
                  <a:srgbClr val="15213F"/>
                </a:solidFill>
                <a:latin typeface="Arial" pitchFamily="34" charset="0"/>
                <a:ea typeface="Arial" pitchFamily="34" charset="-122"/>
                <a:cs typeface="Arial" pitchFamily="34" charset="-120"/>
              </a:rPr>
              <a:t>Инвертированный индекс</a:t>
            </a:r>
            <a:endParaRPr lang="en-US" sz="4000" dirty="0"/>
          </a:p>
        </p:txBody>
      </p:sp>
      <p:sp>
        <p:nvSpPr>
          <p:cNvPr id="5" name="Shape 2"/>
          <p:cNvSpPr/>
          <p:nvPr/>
        </p:nvSpPr>
        <p:spPr>
          <a:xfrm>
            <a:off x="548640" y="1463040"/>
            <a:ext cx="3200400" cy="1005840"/>
          </a:xfrm>
          <a:prstGeom prst="roundRect">
            <a:avLst>
              <a:gd name="adj" fmla="val 13636"/>
            </a:avLst>
          </a:prstGeom>
          <a:solidFill>
            <a:srgbClr val="0B64DD"/>
          </a:solidFill>
          <a:ln w="12700">
            <a:solidFill>
              <a:srgbClr val="0B64DD"/>
            </a:solidFill>
            <a:prstDash val="solid"/>
          </a:ln>
        </p:spPr>
      </p:sp>
      <p:sp>
        <p:nvSpPr>
          <p:cNvPr id="6" name="Text 3"/>
          <p:cNvSpPr txBox="1"/>
          <p:nvPr/>
        </p:nvSpPr>
        <p:spPr>
          <a:xfrm>
            <a:off x="548640" y="1463040"/>
            <a:ext cx="3200400" cy="10058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Текст</a:t>
            </a:r>
            <a:endParaRPr lang="en-US" sz="3000" dirty="0"/>
          </a:p>
        </p:txBody>
      </p:sp>
      <p:sp>
        <p:nvSpPr>
          <p:cNvPr id="7" name="Shape 4"/>
          <p:cNvSpPr/>
          <p:nvPr/>
        </p:nvSpPr>
        <p:spPr>
          <a:xfrm>
            <a:off x="3840480" y="1764792"/>
            <a:ext cx="502920" cy="411480"/>
          </a:xfrm>
          <a:prstGeom prst="rightArrow">
            <a:avLst/>
          </a:prstGeom>
          <a:solidFill>
            <a:srgbClr val="5B6477"/>
          </a:solidFill>
          <a:ln w="12700">
            <a:solidFill>
              <a:srgbClr val="5B6477"/>
            </a:solidFill>
            <a:prstDash val="solid"/>
          </a:ln>
        </p:spPr>
      </p:sp>
      <p:sp>
        <p:nvSpPr>
          <p:cNvPr id="8" name="Shape 5"/>
          <p:cNvSpPr/>
          <p:nvPr/>
        </p:nvSpPr>
        <p:spPr>
          <a:xfrm>
            <a:off x="4434840" y="1463040"/>
            <a:ext cx="3200400" cy="1005840"/>
          </a:xfrm>
          <a:prstGeom prst="roundRect">
            <a:avLst>
              <a:gd name="adj" fmla="val 13636"/>
            </a:avLst>
          </a:prstGeom>
          <a:solidFill>
            <a:srgbClr val="00A79D"/>
          </a:solidFill>
          <a:ln w="12700">
            <a:solidFill>
              <a:srgbClr val="00A79D"/>
            </a:solidFill>
            <a:prstDash val="solid"/>
          </a:ln>
        </p:spPr>
      </p:sp>
      <p:sp>
        <p:nvSpPr>
          <p:cNvPr id="9" name="Text 6"/>
          <p:cNvSpPr txBox="1"/>
          <p:nvPr/>
        </p:nvSpPr>
        <p:spPr>
          <a:xfrm>
            <a:off x="4434840" y="1463040"/>
            <a:ext cx="3200400" cy="10058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Анализатор</a:t>
            </a:r>
            <a:endParaRPr lang="en-US" sz="3000" dirty="0"/>
          </a:p>
        </p:txBody>
      </p:sp>
      <p:sp>
        <p:nvSpPr>
          <p:cNvPr id="10" name="Shape 7"/>
          <p:cNvSpPr/>
          <p:nvPr/>
        </p:nvSpPr>
        <p:spPr>
          <a:xfrm>
            <a:off x="7726680" y="1764792"/>
            <a:ext cx="502920" cy="411480"/>
          </a:xfrm>
          <a:prstGeom prst="rightArrow">
            <a:avLst/>
          </a:prstGeom>
          <a:solidFill>
            <a:srgbClr val="5B6477"/>
          </a:solidFill>
          <a:ln w="12700">
            <a:solidFill>
              <a:srgbClr val="5B6477"/>
            </a:solidFill>
            <a:prstDash val="solid"/>
          </a:ln>
        </p:spPr>
      </p:sp>
      <p:sp>
        <p:nvSpPr>
          <p:cNvPr id="11" name="Shape 8"/>
          <p:cNvSpPr/>
          <p:nvPr/>
        </p:nvSpPr>
        <p:spPr>
          <a:xfrm>
            <a:off x="8321040" y="1463040"/>
            <a:ext cx="3200400" cy="1005840"/>
          </a:xfrm>
          <a:prstGeom prst="roundRect">
            <a:avLst>
              <a:gd name="adj" fmla="val 13636"/>
            </a:avLst>
          </a:prstGeom>
          <a:solidFill>
            <a:srgbClr val="15213F"/>
          </a:solidFill>
          <a:ln w="12700">
            <a:solidFill>
              <a:srgbClr val="15213F"/>
            </a:solidFill>
            <a:prstDash val="solid"/>
          </a:ln>
        </p:spPr>
      </p:sp>
      <p:sp>
        <p:nvSpPr>
          <p:cNvPr id="12" name="Text 9"/>
          <p:cNvSpPr txBox="1"/>
          <p:nvPr/>
        </p:nvSpPr>
        <p:spPr>
          <a:xfrm>
            <a:off x="8321040" y="1463040"/>
            <a:ext cx="3200400" cy="100584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Индекс</a:t>
            </a:r>
            <a:endParaRPr lang="en-US" sz="3000" dirty="0"/>
          </a:p>
        </p:txBody>
      </p:sp>
      <p:sp>
        <p:nvSpPr>
          <p:cNvPr id="13" name="Text 10"/>
          <p:cNvSpPr txBox="1"/>
          <p:nvPr/>
        </p:nvSpPr>
        <p:spPr>
          <a:xfrm>
            <a:off x="548640" y="2697480"/>
            <a:ext cx="11064240" cy="640080"/>
          </a:xfrm>
          <a:prstGeom prst="rect">
            <a:avLst/>
          </a:prstGeom>
          <a:noFill/>
          <a:ln/>
        </p:spPr>
        <p:txBody>
          <a:bodyPr wrap="square" lIns="0" tIns="0" rIns="0" bIns="0" rtlCol="0" anchor="ctr"/>
          <a:lstStyle/>
          <a:p>
            <a:pPr marL="0" indent="0">
              <a:buNone/>
            </a:pPr>
            <a:r>
              <a:rPr lang="en-US" sz="3000" i="1" dirty="0">
                <a:solidFill>
                  <a:srgbClr val="5B6477"/>
                </a:solidFill>
                <a:latin typeface="Calibri" pitchFamily="34" charset="0"/>
                <a:ea typeface="Calibri" pitchFamily="34" charset="-122"/>
                <a:cs typeface="Calibri" pitchFamily="34" charset="-120"/>
              </a:rPr>
              <a:t>«Красные Кроссовки» → красн, кроссовк</a:t>
            </a:r>
            <a:endParaRPr lang="en-US" sz="3000" dirty="0"/>
          </a:p>
        </p:txBody>
      </p:sp>
      <p:sp>
        <p:nvSpPr>
          <p:cNvPr id="14" name="Shape 11"/>
          <p:cNvSpPr/>
          <p:nvPr/>
        </p:nvSpPr>
        <p:spPr>
          <a:xfrm>
            <a:off x="548640" y="3520440"/>
            <a:ext cx="6583680" cy="2743200"/>
          </a:xfrm>
          <a:prstGeom prst="roundRect">
            <a:avLst>
              <a:gd name="adj" fmla="val 5000"/>
            </a:avLst>
          </a:prstGeom>
          <a:solidFill>
            <a:srgbClr val="F3F6FA"/>
          </a:solidFill>
          <a:ln w="12700">
            <a:solidFill>
              <a:srgbClr val="F3F6FA"/>
            </a:solidFill>
            <a:prstDash val="solid"/>
          </a:ln>
        </p:spPr>
      </p:sp>
      <p:sp>
        <p:nvSpPr>
          <p:cNvPr id="15" name="Text 12"/>
          <p:cNvSpPr txBox="1"/>
          <p:nvPr/>
        </p:nvSpPr>
        <p:spPr>
          <a:xfrm>
            <a:off x="822960" y="3703320"/>
            <a:ext cx="2560320" cy="731520"/>
          </a:xfrm>
          <a:prstGeom prst="rect">
            <a:avLst/>
          </a:prstGeom>
          <a:noFill/>
          <a:ln/>
        </p:spPr>
        <p:txBody>
          <a:bodyPr wrap="square" lIns="0" tIns="0" rIns="0" bIns="0" rtlCol="0" anchor="ctr"/>
          <a:lstStyle/>
          <a:p>
            <a:pPr marL="0" indent="0">
              <a:buNone/>
            </a:pPr>
            <a:r>
              <a:rPr lang="en-US" sz="3000" b="1" dirty="0">
                <a:solidFill>
                  <a:srgbClr val="15213F"/>
                </a:solidFill>
                <a:latin typeface="Courier New" pitchFamily="34" charset="0"/>
                <a:ea typeface="Courier New" pitchFamily="34" charset="-122"/>
                <a:cs typeface="Courier New" pitchFamily="34" charset="-120"/>
              </a:rPr>
              <a:t>кроссовк</a:t>
            </a:r>
            <a:endParaRPr lang="en-US" sz="3000" dirty="0"/>
          </a:p>
        </p:txBody>
      </p:sp>
      <p:sp>
        <p:nvSpPr>
          <p:cNvPr id="16" name="Shape 13"/>
          <p:cNvSpPr/>
          <p:nvPr/>
        </p:nvSpPr>
        <p:spPr>
          <a:xfrm>
            <a:off x="3474720" y="3867912"/>
            <a:ext cx="548640" cy="411480"/>
          </a:xfrm>
          <a:prstGeom prst="rightArrow">
            <a:avLst/>
          </a:prstGeom>
          <a:solidFill>
            <a:srgbClr val="00A79D"/>
          </a:solidFill>
          <a:ln w="12700">
            <a:solidFill>
              <a:srgbClr val="00A79D"/>
            </a:solidFill>
            <a:prstDash val="solid"/>
          </a:ln>
        </p:spPr>
      </p:sp>
      <p:sp>
        <p:nvSpPr>
          <p:cNvPr id="17" name="Text 14"/>
          <p:cNvSpPr txBox="1"/>
          <p:nvPr/>
        </p:nvSpPr>
        <p:spPr>
          <a:xfrm>
            <a:off x="4206240" y="3703320"/>
            <a:ext cx="2743200" cy="731520"/>
          </a:xfrm>
          <a:prstGeom prst="rect">
            <a:avLst/>
          </a:prstGeom>
          <a:noFill/>
          <a:ln/>
        </p:spPr>
        <p:txBody>
          <a:bodyPr wrap="square" lIns="0" tIns="0" rIns="0" bIns="0" rtlCol="0" anchor="ctr"/>
          <a:lstStyle/>
          <a:p>
            <a:pPr marL="0" indent="0">
              <a:buNone/>
            </a:pPr>
            <a:r>
              <a:rPr lang="en-US" sz="3000" dirty="0">
                <a:solidFill>
                  <a:srgbClr val="1C2333"/>
                </a:solidFill>
                <a:latin typeface="Courier New" pitchFamily="34" charset="0"/>
                <a:ea typeface="Courier New" pitchFamily="34" charset="-122"/>
                <a:cs typeface="Courier New" pitchFamily="34" charset="-120"/>
              </a:rPr>
              <a:t>док. 1, 5, 9</a:t>
            </a:r>
            <a:endParaRPr lang="en-US" sz="3000" dirty="0"/>
          </a:p>
        </p:txBody>
      </p:sp>
      <p:sp>
        <p:nvSpPr>
          <p:cNvPr id="18" name="Text 15"/>
          <p:cNvSpPr txBox="1"/>
          <p:nvPr/>
        </p:nvSpPr>
        <p:spPr>
          <a:xfrm>
            <a:off x="822960" y="4526280"/>
            <a:ext cx="2560320" cy="731520"/>
          </a:xfrm>
          <a:prstGeom prst="rect">
            <a:avLst/>
          </a:prstGeom>
          <a:noFill/>
          <a:ln/>
        </p:spPr>
        <p:txBody>
          <a:bodyPr wrap="square" lIns="0" tIns="0" rIns="0" bIns="0" rtlCol="0" anchor="ctr"/>
          <a:lstStyle/>
          <a:p>
            <a:pPr marL="0" indent="0">
              <a:buNone/>
            </a:pPr>
            <a:r>
              <a:rPr lang="en-US" sz="3000" b="1" dirty="0">
                <a:solidFill>
                  <a:srgbClr val="15213F"/>
                </a:solidFill>
                <a:latin typeface="Courier New" pitchFamily="34" charset="0"/>
                <a:ea typeface="Courier New" pitchFamily="34" charset="-122"/>
                <a:cs typeface="Courier New" pitchFamily="34" charset="-120"/>
              </a:rPr>
              <a:t>красн</a:t>
            </a:r>
            <a:endParaRPr lang="en-US" sz="3000" dirty="0"/>
          </a:p>
        </p:txBody>
      </p:sp>
      <p:sp>
        <p:nvSpPr>
          <p:cNvPr id="19" name="Shape 16"/>
          <p:cNvSpPr/>
          <p:nvPr/>
        </p:nvSpPr>
        <p:spPr>
          <a:xfrm>
            <a:off x="3474720" y="4690872"/>
            <a:ext cx="548640" cy="411480"/>
          </a:xfrm>
          <a:prstGeom prst="rightArrow">
            <a:avLst/>
          </a:prstGeom>
          <a:solidFill>
            <a:srgbClr val="00A79D"/>
          </a:solidFill>
          <a:ln w="12700">
            <a:solidFill>
              <a:srgbClr val="00A79D"/>
            </a:solidFill>
            <a:prstDash val="solid"/>
          </a:ln>
        </p:spPr>
      </p:sp>
      <p:sp>
        <p:nvSpPr>
          <p:cNvPr id="20" name="Text 17"/>
          <p:cNvSpPr txBox="1"/>
          <p:nvPr/>
        </p:nvSpPr>
        <p:spPr>
          <a:xfrm>
            <a:off x="4206240" y="4526280"/>
            <a:ext cx="2743200" cy="731520"/>
          </a:xfrm>
          <a:prstGeom prst="rect">
            <a:avLst/>
          </a:prstGeom>
          <a:noFill/>
          <a:ln/>
        </p:spPr>
        <p:txBody>
          <a:bodyPr wrap="square" lIns="0" tIns="0" rIns="0" bIns="0" rtlCol="0" anchor="ctr"/>
          <a:lstStyle/>
          <a:p>
            <a:pPr marL="0" indent="0">
              <a:buNone/>
            </a:pPr>
            <a:r>
              <a:rPr lang="en-US" sz="3000" dirty="0">
                <a:solidFill>
                  <a:srgbClr val="1C2333"/>
                </a:solidFill>
                <a:latin typeface="Courier New" pitchFamily="34" charset="0"/>
                <a:ea typeface="Courier New" pitchFamily="34" charset="-122"/>
                <a:cs typeface="Courier New" pitchFamily="34" charset="-120"/>
              </a:rPr>
              <a:t>док. 1, 3</a:t>
            </a:r>
            <a:endParaRPr lang="en-US" sz="3000" dirty="0"/>
          </a:p>
        </p:txBody>
      </p:sp>
      <p:sp>
        <p:nvSpPr>
          <p:cNvPr id="21" name="Text 18"/>
          <p:cNvSpPr txBox="1"/>
          <p:nvPr/>
        </p:nvSpPr>
        <p:spPr>
          <a:xfrm>
            <a:off x="822960" y="5349240"/>
            <a:ext cx="2560320" cy="731520"/>
          </a:xfrm>
          <a:prstGeom prst="rect">
            <a:avLst/>
          </a:prstGeom>
          <a:noFill/>
          <a:ln/>
        </p:spPr>
        <p:txBody>
          <a:bodyPr wrap="square" lIns="0" tIns="0" rIns="0" bIns="0" rtlCol="0" anchor="ctr"/>
          <a:lstStyle/>
          <a:p>
            <a:pPr marL="0" indent="0">
              <a:buNone/>
            </a:pPr>
            <a:r>
              <a:rPr lang="en-US" sz="3000" b="1" dirty="0">
                <a:solidFill>
                  <a:srgbClr val="15213F"/>
                </a:solidFill>
                <a:latin typeface="Courier New" pitchFamily="34" charset="0"/>
                <a:ea typeface="Courier New" pitchFamily="34" charset="-122"/>
                <a:cs typeface="Courier New" pitchFamily="34" charset="-120"/>
              </a:rPr>
              <a:t>42</a:t>
            </a:r>
            <a:endParaRPr lang="en-US" sz="3000" dirty="0"/>
          </a:p>
        </p:txBody>
      </p:sp>
      <p:sp>
        <p:nvSpPr>
          <p:cNvPr id="22" name="Shape 19"/>
          <p:cNvSpPr/>
          <p:nvPr/>
        </p:nvSpPr>
        <p:spPr>
          <a:xfrm>
            <a:off x="3474720" y="5513832"/>
            <a:ext cx="548640" cy="411480"/>
          </a:xfrm>
          <a:prstGeom prst="rightArrow">
            <a:avLst/>
          </a:prstGeom>
          <a:solidFill>
            <a:srgbClr val="00A79D"/>
          </a:solidFill>
          <a:ln w="12700">
            <a:solidFill>
              <a:srgbClr val="00A79D"/>
            </a:solidFill>
            <a:prstDash val="solid"/>
          </a:ln>
        </p:spPr>
      </p:sp>
      <p:sp>
        <p:nvSpPr>
          <p:cNvPr id="23" name="Text 20"/>
          <p:cNvSpPr txBox="1"/>
          <p:nvPr/>
        </p:nvSpPr>
        <p:spPr>
          <a:xfrm>
            <a:off x="4206240" y="5349240"/>
            <a:ext cx="2743200" cy="731520"/>
          </a:xfrm>
          <a:prstGeom prst="rect">
            <a:avLst/>
          </a:prstGeom>
          <a:noFill/>
          <a:ln/>
        </p:spPr>
        <p:txBody>
          <a:bodyPr wrap="square" lIns="0" tIns="0" rIns="0" bIns="0" rtlCol="0" anchor="ctr"/>
          <a:lstStyle/>
          <a:p>
            <a:pPr marL="0" indent="0">
              <a:buNone/>
            </a:pPr>
            <a:r>
              <a:rPr lang="en-US" sz="3000" dirty="0">
                <a:solidFill>
                  <a:srgbClr val="1C2333"/>
                </a:solidFill>
                <a:latin typeface="Courier New" pitchFamily="34" charset="0"/>
                <a:ea typeface="Courier New" pitchFamily="34" charset="-122"/>
                <a:cs typeface="Courier New" pitchFamily="34" charset="-120"/>
              </a:rPr>
              <a:t>док. 1, 7</a:t>
            </a:r>
            <a:endParaRPr lang="en-US" sz="3000" dirty="0"/>
          </a:p>
        </p:txBody>
      </p:sp>
      <p:sp>
        <p:nvSpPr>
          <p:cNvPr id="24" name="Shape 21"/>
          <p:cNvSpPr/>
          <p:nvPr/>
        </p:nvSpPr>
        <p:spPr>
          <a:xfrm>
            <a:off x="9447712" y="3520440"/>
            <a:ext cx="1188720" cy="1188720"/>
          </a:xfrm>
          <a:prstGeom prst="ellipse">
            <a:avLst/>
          </a:prstGeom>
          <a:solidFill>
            <a:srgbClr val="FEC514"/>
          </a:solidFill>
          <a:ln w="12700">
            <a:solidFill>
              <a:srgbClr val="FEC514"/>
            </a:solidFill>
            <a:prstDash val="solid"/>
          </a:ln>
        </p:spPr>
      </p:sp>
      <p:pic>
        <p:nvPicPr>
          <p:cNvPr id="25" name="Image 0" descr="preencoded.png"/>
          <p:cNvPicPr>
            <a:picLocks noChangeAspect="1"/>
          </p:cNvPicPr>
          <p:nvPr/>
        </p:nvPicPr>
        <p:blipFill>
          <a:blip r:embed="rId3"/>
          <a:stretch>
            <a:fillRect/>
          </a:stretch>
        </p:blipFill>
        <p:spPr>
          <a:xfrm>
            <a:off x="9744892" y="3817620"/>
            <a:ext cx="594360" cy="594360"/>
          </a:xfrm>
          <a:prstGeom prst="rect">
            <a:avLst/>
          </a:prstGeom>
        </p:spPr>
      </p:pic>
      <p:sp>
        <p:nvSpPr>
          <p:cNvPr id="26" name="Text 22"/>
          <p:cNvSpPr txBox="1"/>
          <p:nvPr/>
        </p:nvSpPr>
        <p:spPr>
          <a:xfrm>
            <a:off x="8030392" y="4923064"/>
            <a:ext cx="4023360" cy="1280160"/>
          </a:xfrm>
          <a:prstGeom prst="rect">
            <a:avLst/>
          </a:prstGeom>
          <a:noFill/>
          <a:ln/>
        </p:spPr>
        <p:txBody>
          <a:bodyPr wrap="square" lIns="0" tIns="0" rIns="0" bIns="0" rtlCol="0" anchor="ctr"/>
          <a:lstStyle/>
          <a:p>
            <a:pPr marL="0" indent="0" algn="ctr">
              <a:buNone/>
            </a:pPr>
            <a:r>
              <a:rPr lang="en-US" sz="3000" b="1" dirty="0">
                <a:solidFill>
                  <a:srgbClr val="15213F"/>
                </a:solidFill>
                <a:latin typeface="Calibri" pitchFamily="34" charset="0"/>
                <a:ea typeface="Calibri" pitchFamily="34" charset="-122"/>
                <a:cs typeface="Calibri" pitchFamily="34" charset="-120"/>
              </a:rPr>
              <a:t>Без перебора — миллисекунды</a:t>
            </a: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11247120" y="6309360"/>
            <a:ext cx="640080" cy="365760"/>
          </a:xfrm>
          <a:prstGeom prst="rect">
            <a:avLst/>
          </a:prstGeom>
          <a:noFill/>
          <a:ln/>
        </p:spPr>
        <p:txBody>
          <a:bodyPr wrap="square" lIns="0" tIns="0" rIns="0" bIns="0" rtlCol="0" anchor="ctr"/>
          <a:lstStyle/>
          <a:p>
            <a:pPr marL="0" indent="0" algn="r">
              <a:buNone/>
            </a:pPr>
            <a:r>
              <a:rPr lang="en-US" sz="1400" dirty="0">
                <a:solidFill>
                  <a:srgbClr val="8A93AD"/>
                </a:solidFill>
                <a:latin typeface="Calibri" pitchFamily="34" charset="0"/>
                <a:ea typeface="Calibri" pitchFamily="34" charset="-122"/>
                <a:cs typeface="Calibri" pitchFamily="34" charset="-120"/>
              </a:rPr>
              <a:t>5</a:t>
            </a:r>
            <a:endParaRPr lang="en-US" sz="1400" dirty="0"/>
          </a:p>
        </p:txBody>
      </p:sp>
      <p:sp>
        <p:nvSpPr>
          <p:cNvPr id="4" name="Text 1"/>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4000" b="1" dirty="0">
                <a:solidFill>
                  <a:srgbClr val="15213F"/>
                </a:solidFill>
                <a:latin typeface="Arial" pitchFamily="34" charset="0"/>
                <a:ea typeface="Arial" pitchFamily="34" charset="-122"/>
                <a:cs typeface="Arial" pitchFamily="34" charset="-120"/>
              </a:rPr>
              <a:t>Релевантность и нечёткий поиск</a:t>
            </a:r>
            <a:endParaRPr lang="en-US" sz="4000" dirty="0"/>
          </a:p>
        </p:txBody>
      </p:sp>
      <p:sp>
        <p:nvSpPr>
          <p:cNvPr id="5" name="Shape 2"/>
          <p:cNvSpPr/>
          <p:nvPr/>
        </p:nvSpPr>
        <p:spPr>
          <a:xfrm>
            <a:off x="548640" y="1463040"/>
            <a:ext cx="5394960" cy="4846320"/>
          </a:xfrm>
          <a:prstGeom prst="roundRect">
            <a:avLst>
              <a:gd name="adj" fmla="val 2830"/>
            </a:avLst>
          </a:prstGeom>
          <a:solidFill>
            <a:srgbClr val="F3F6FA"/>
          </a:solidFill>
          <a:ln w="12700">
            <a:solidFill>
              <a:srgbClr val="F3F6FA"/>
            </a:solidFill>
            <a:prstDash val="solid"/>
          </a:ln>
        </p:spPr>
      </p:sp>
      <p:sp>
        <p:nvSpPr>
          <p:cNvPr id="6" name="Text 3"/>
          <p:cNvSpPr txBox="1"/>
          <p:nvPr/>
        </p:nvSpPr>
        <p:spPr>
          <a:xfrm>
            <a:off x="548640" y="1600200"/>
            <a:ext cx="5394960" cy="1005840"/>
          </a:xfrm>
          <a:prstGeom prst="rect">
            <a:avLst/>
          </a:prstGeom>
          <a:noFill/>
          <a:ln/>
        </p:spPr>
        <p:txBody>
          <a:bodyPr wrap="square" lIns="0" tIns="0" rIns="0" bIns="0" rtlCol="0" anchor="ctr"/>
          <a:lstStyle/>
          <a:p>
            <a:pPr marL="0" indent="0" algn="ctr">
              <a:buNone/>
            </a:pPr>
            <a:r>
              <a:rPr lang="en-US" sz="5400" b="1" dirty="0">
                <a:solidFill>
                  <a:srgbClr val="00A79D"/>
                </a:solidFill>
                <a:latin typeface="Arial" pitchFamily="34" charset="0"/>
                <a:ea typeface="Arial" pitchFamily="34" charset="-122"/>
                <a:cs typeface="Arial" pitchFamily="34" charset="-120"/>
              </a:rPr>
              <a:t>BM25</a:t>
            </a:r>
            <a:endParaRPr lang="en-US" sz="5400" dirty="0"/>
          </a:p>
        </p:txBody>
      </p:sp>
      <p:sp>
        <p:nvSpPr>
          <p:cNvPr id="7" name="Shape 4"/>
          <p:cNvSpPr/>
          <p:nvPr/>
        </p:nvSpPr>
        <p:spPr>
          <a:xfrm>
            <a:off x="914400" y="3081528"/>
            <a:ext cx="365760" cy="365760"/>
          </a:xfrm>
          <a:prstGeom prst="ellipse">
            <a:avLst/>
          </a:prstGeom>
          <a:solidFill>
            <a:srgbClr val="00A79D"/>
          </a:solidFill>
          <a:ln w="12700">
            <a:solidFill>
              <a:srgbClr val="00A79D"/>
            </a:solidFill>
            <a:prstDash val="solid"/>
          </a:ln>
        </p:spPr>
      </p:sp>
      <p:sp>
        <p:nvSpPr>
          <p:cNvPr id="8" name="Text 5"/>
          <p:cNvSpPr txBox="1"/>
          <p:nvPr/>
        </p:nvSpPr>
        <p:spPr>
          <a:xfrm>
            <a:off x="1554480" y="2834640"/>
            <a:ext cx="4114800" cy="868680"/>
          </a:xfrm>
          <a:prstGeom prst="rect">
            <a:avLst/>
          </a:prstGeom>
          <a:noFill/>
          <a:ln/>
        </p:spPr>
        <p:txBody>
          <a:bodyPr wrap="square" lIns="0" tIns="0" rIns="0" bIns="0" rtlCol="0" anchor="ctr"/>
          <a:lstStyle/>
          <a:p>
            <a:pPr marL="0" indent="0">
              <a:buNone/>
            </a:pPr>
            <a:r>
              <a:rPr lang="en-US" sz="3000" dirty="0">
                <a:solidFill>
                  <a:srgbClr val="1C2333"/>
                </a:solidFill>
                <a:latin typeface="Calibri" pitchFamily="34" charset="0"/>
                <a:ea typeface="Calibri" pitchFamily="34" charset="-122"/>
                <a:cs typeface="Calibri" pitchFamily="34" charset="-120"/>
              </a:rPr>
              <a:t>частота слова</a:t>
            </a:r>
            <a:endParaRPr lang="en-US" sz="3000" dirty="0"/>
          </a:p>
        </p:txBody>
      </p:sp>
      <p:sp>
        <p:nvSpPr>
          <p:cNvPr id="9" name="Shape 6"/>
          <p:cNvSpPr/>
          <p:nvPr/>
        </p:nvSpPr>
        <p:spPr>
          <a:xfrm>
            <a:off x="914400" y="4178808"/>
            <a:ext cx="365760" cy="365760"/>
          </a:xfrm>
          <a:prstGeom prst="ellipse">
            <a:avLst/>
          </a:prstGeom>
          <a:solidFill>
            <a:srgbClr val="00A79D"/>
          </a:solidFill>
          <a:ln w="12700">
            <a:solidFill>
              <a:srgbClr val="00A79D"/>
            </a:solidFill>
            <a:prstDash val="solid"/>
          </a:ln>
        </p:spPr>
      </p:sp>
      <p:sp>
        <p:nvSpPr>
          <p:cNvPr id="10" name="Text 7"/>
          <p:cNvSpPr txBox="1"/>
          <p:nvPr/>
        </p:nvSpPr>
        <p:spPr>
          <a:xfrm>
            <a:off x="1554480" y="3931920"/>
            <a:ext cx="4114800" cy="868680"/>
          </a:xfrm>
          <a:prstGeom prst="rect">
            <a:avLst/>
          </a:prstGeom>
          <a:noFill/>
          <a:ln/>
        </p:spPr>
        <p:txBody>
          <a:bodyPr wrap="square" lIns="0" tIns="0" rIns="0" bIns="0" rtlCol="0" anchor="ctr"/>
          <a:lstStyle/>
          <a:p>
            <a:pPr marL="0" indent="0">
              <a:buNone/>
            </a:pPr>
            <a:r>
              <a:rPr lang="en-US" sz="3000" dirty="0">
                <a:solidFill>
                  <a:srgbClr val="1C2333"/>
                </a:solidFill>
                <a:latin typeface="Calibri" pitchFamily="34" charset="0"/>
                <a:ea typeface="Calibri" pitchFamily="34" charset="-122"/>
                <a:cs typeface="Calibri" pitchFamily="34" charset="-120"/>
              </a:rPr>
              <a:t>редкость слова</a:t>
            </a:r>
            <a:endParaRPr lang="en-US" sz="3000" dirty="0"/>
          </a:p>
        </p:txBody>
      </p:sp>
      <p:sp>
        <p:nvSpPr>
          <p:cNvPr id="11" name="Shape 8"/>
          <p:cNvSpPr/>
          <p:nvPr/>
        </p:nvSpPr>
        <p:spPr>
          <a:xfrm>
            <a:off x="914400" y="5276088"/>
            <a:ext cx="365760" cy="365760"/>
          </a:xfrm>
          <a:prstGeom prst="ellipse">
            <a:avLst/>
          </a:prstGeom>
          <a:solidFill>
            <a:srgbClr val="00A79D"/>
          </a:solidFill>
          <a:ln w="12700">
            <a:solidFill>
              <a:srgbClr val="00A79D"/>
            </a:solidFill>
            <a:prstDash val="solid"/>
          </a:ln>
        </p:spPr>
      </p:sp>
      <p:sp>
        <p:nvSpPr>
          <p:cNvPr id="12" name="Text 9"/>
          <p:cNvSpPr txBox="1"/>
          <p:nvPr/>
        </p:nvSpPr>
        <p:spPr>
          <a:xfrm>
            <a:off x="1554480" y="5029200"/>
            <a:ext cx="4114800" cy="868680"/>
          </a:xfrm>
          <a:prstGeom prst="rect">
            <a:avLst/>
          </a:prstGeom>
          <a:noFill/>
          <a:ln/>
        </p:spPr>
        <p:txBody>
          <a:bodyPr wrap="square" lIns="0" tIns="0" rIns="0" bIns="0" rtlCol="0" anchor="ctr"/>
          <a:lstStyle/>
          <a:p>
            <a:pPr marL="0" indent="0">
              <a:buNone/>
            </a:pPr>
            <a:r>
              <a:rPr lang="en-US" sz="3000" dirty="0">
                <a:solidFill>
                  <a:srgbClr val="1C2333"/>
                </a:solidFill>
                <a:latin typeface="Calibri" pitchFamily="34" charset="0"/>
                <a:ea typeface="Calibri" pitchFamily="34" charset="-122"/>
                <a:cs typeface="Calibri" pitchFamily="34" charset="-120"/>
              </a:rPr>
              <a:t>длина поля</a:t>
            </a:r>
            <a:endParaRPr lang="en-US" sz="3000" dirty="0"/>
          </a:p>
        </p:txBody>
      </p:sp>
      <p:sp>
        <p:nvSpPr>
          <p:cNvPr id="13" name="Shape 10"/>
          <p:cNvSpPr/>
          <p:nvPr/>
        </p:nvSpPr>
        <p:spPr>
          <a:xfrm>
            <a:off x="6400800" y="1645920"/>
            <a:ext cx="5212080" cy="914400"/>
          </a:xfrm>
          <a:prstGeom prst="roundRect">
            <a:avLst>
              <a:gd name="adj" fmla="val 50000"/>
            </a:avLst>
          </a:prstGeom>
          <a:solidFill>
            <a:srgbClr val="FFFFFF"/>
          </a:solidFill>
          <a:ln w="31750">
            <a:solidFill>
              <a:srgbClr val="0B64DD"/>
            </a:solidFill>
            <a:prstDash val="solid"/>
          </a:ln>
        </p:spPr>
      </p:sp>
      <p:pic>
        <p:nvPicPr>
          <p:cNvPr id="14" name="Image 0" descr="preencoded.png"/>
          <p:cNvPicPr>
            <a:picLocks noChangeAspect="1"/>
          </p:cNvPicPr>
          <p:nvPr/>
        </p:nvPicPr>
        <p:blipFill>
          <a:blip r:embed="rId3"/>
          <a:stretch>
            <a:fillRect/>
          </a:stretch>
        </p:blipFill>
        <p:spPr>
          <a:xfrm>
            <a:off x="6675120" y="1874520"/>
            <a:ext cx="457200" cy="457200"/>
          </a:xfrm>
          <a:prstGeom prst="rect">
            <a:avLst/>
          </a:prstGeom>
        </p:spPr>
      </p:pic>
      <p:sp>
        <p:nvSpPr>
          <p:cNvPr id="15" name="Text 11"/>
          <p:cNvSpPr txBox="1"/>
          <p:nvPr/>
        </p:nvSpPr>
        <p:spPr>
          <a:xfrm>
            <a:off x="7315200" y="1645920"/>
            <a:ext cx="4023360" cy="914400"/>
          </a:xfrm>
          <a:prstGeom prst="rect">
            <a:avLst/>
          </a:prstGeom>
          <a:noFill/>
          <a:ln/>
        </p:spPr>
        <p:txBody>
          <a:bodyPr wrap="square" lIns="0" tIns="0" rIns="0" bIns="0" rtlCol="0" anchor="ctr"/>
          <a:lstStyle/>
          <a:p>
            <a:pPr marL="0" indent="0">
              <a:buNone/>
            </a:pPr>
            <a:r>
              <a:rPr lang="en-US" sz="3200" dirty="0">
                <a:solidFill>
                  <a:srgbClr val="1C2333"/>
                </a:solidFill>
                <a:latin typeface="Calibri" pitchFamily="34" charset="0"/>
                <a:ea typeface="Calibri" pitchFamily="34" charset="-122"/>
                <a:cs typeface="Calibri" pitchFamily="34" charset="-120"/>
              </a:rPr>
              <a:t>ойфон</a:t>
            </a:r>
            <a:endParaRPr lang="en-US" sz="3200" dirty="0"/>
          </a:p>
        </p:txBody>
      </p:sp>
      <p:sp>
        <p:nvSpPr>
          <p:cNvPr id="16" name="Shape 12"/>
          <p:cNvSpPr/>
          <p:nvPr/>
        </p:nvSpPr>
        <p:spPr>
          <a:xfrm>
            <a:off x="8732520" y="2743200"/>
            <a:ext cx="548640" cy="731520"/>
          </a:xfrm>
          <a:prstGeom prst="downArrow">
            <a:avLst/>
          </a:prstGeom>
          <a:solidFill>
            <a:srgbClr val="5B6477"/>
          </a:solidFill>
          <a:ln w="12700">
            <a:solidFill>
              <a:srgbClr val="5B6477"/>
            </a:solidFill>
            <a:prstDash val="solid"/>
          </a:ln>
        </p:spPr>
      </p:sp>
      <p:sp>
        <p:nvSpPr>
          <p:cNvPr id="17" name="Shape 13"/>
          <p:cNvSpPr/>
          <p:nvPr/>
        </p:nvSpPr>
        <p:spPr>
          <a:xfrm>
            <a:off x="6400800" y="3657600"/>
            <a:ext cx="5212080" cy="914400"/>
          </a:xfrm>
          <a:prstGeom prst="roundRect">
            <a:avLst>
              <a:gd name="adj" fmla="val 15000"/>
            </a:avLst>
          </a:prstGeom>
          <a:solidFill>
            <a:srgbClr val="E3F6F4"/>
          </a:solidFill>
          <a:ln w="12700">
            <a:solidFill>
              <a:srgbClr val="E3F6F4"/>
            </a:solidFill>
            <a:prstDash val="solid"/>
          </a:ln>
        </p:spPr>
      </p:sp>
      <p:pic>
        <p:nvPicPr>
          <p:cNvPr id="18" name="Image 1" descr="preencoded.png"/>
          <p:cNvPicPr>
            <a:picLocks noChangeAspect="1"/>
          </p:cNvPicPr>
          <p:nvPr/>
        </p:nvPicPr>
        <p:blipFill>
          <a:blip r:embed="rId4"/>
          <a:stretch>
            <a:fillRect/>
          </a:stretch>
        </p:blipFill>
        <p:spPr>
          <a:xfrm>
            <a:off x="6675120" y="3886200"/>
            <a:ext cx="457200" cy="457200"/>
          </a:xfrm>
          <a:prstGeom prst="rect">
            <a:avLst/>
          </a:prstGeom>
        </p:spPr>
      </p:pic>
      <p:sp>
        <p:nvSpPr>
          <p:cNvPr id="19" name="Text 14"/>
          <p:cNvSpPr txBox="1"/>
          <p:nvPr/>
        </p:nvSpPr>
        <p:spPr>
          <a:xfrm>
            <a:off x="7315200" y="3657600"/>
            <a:ext cx="4023360" cy="914400"/>
          </a:xfrm>
          <a:prstGeom prst="rect">
            <a:avLst/>
          </a:prstGeom>
          <a:noFill/>
          <a:ln/>
        </p:spPr>
        <p:txBody>
          <a:bodyPr wrap="square" lIns="0" tIns="0" rIns="0" bIns="0" rtlCol="0" anchor="ctr"/>
          <a:lstStyle/>
          <a:p>
            <a:pPr marL="0" indent="0">
              <a:buNone/>
            </a:pPr>
            <a:r>
              <a:rPr lang="en-US" sz="3200" b="1" dirty="0">
                <a:solidFill>
                  <a:srgbClr val="1C2333"/>
                </a:solidFill>
                <a:latin typeface="Calibri" pitchFamily="34" charset="0"/>
                <a:ea typeface="Calibri" pitchFamily="34" charset="-122"/>
                <a:cs typeface="Calibri" pitchFamily="34" charset="-120"/>
              </a:rPr>
              <a:t>iPhone 16</a:t>
            </a:r>
            <a:endParaRPr lang="en-US" sz="3200" dirty="0"/>
          </a:p>
        </p:txBody>
      </p:sp>
      <p:sp>
        <p:nvSpPr>
          <p:cNvPr id="20" name="Text 15"/>
          <p:cNvSpPr txBox="1"/>
          <p:nvPr/>
        </p:nvSpPr>
        <p:spPr>
          <a:xfrm>
            <a:off x="6400800" y="4937760"/>
            <a:ext cx="5212080" cy="1280160"/>
          </a:xfrm>
          <a:prstGeom prst="rect">
            <a:avLst/>
          </a:prstGeom>
          <a:noFill/>
          <a:ln/>
        </p:spPr>
        <p:txBody>
          <a:bodyPr wrap="square" lIns="0" tIns="0" rIns="0" bIns="0" rtlCol="0" anchor="ctr"/>
          <a:lstStyle/>
          <a:p>
            <a:pPr marL="0" indent="0" algn="ctr">
              <a:buNone/>
            </a:pPr>
            <a:r>
              <a:rPr lang="en-US" sz="3000" i="1" dirty="0">
                <a:solidFill>
                  <a:srgbClr val="5B6477"/>
                </a:solidFill>
                <a:latin typeface="Calibri" pitchFamily="34" charset="0"/>
                <a:ea typeface="Calibri" pitchFamily="34" charset="-122"/>
                <a:cs typeface="Calibri" pitchFamily="34" charset="-120"/>
              </a:rPr>
              <a:t>fuzziness · векторный поиск по смыслу</a:t>
            </a:r>
            <a:endParaRPr lang="en-US"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11247120" y="6309360"/>
            <a:ext cx="640080" cy="365760"/>
          </a:xfrm>
          <a:prstGeom prst="rect">
            <a:avLst/>
          </a:prstGeom>
          <a:noFill/>
          <a:ln/>
        </p:spPr>
        <p:txBody>
          <a:bodyPr wrap="square" lIns="0" tIns="0" rIns="0" bIns="0" rtlCol="0" anchor="ctr"/>
          <a:lstStyle/>
          <a:p>
            <a:pPr marL="0" indent="0" algn="r">
              <a:buNone/>
            </a:pPr>
            <a:r>
              <a:rPr lang="en-US" sz="1400" dirty="0">
                <a:solidFill>
                  <a:srgbClr val="8A93AD"/>
                </a:solidFill>
                <a:latin typeface="Calibri" pitchFamily="34" charset="0"/>
                <a:ea typeface="Calibri" pitchFamily="34" charset="-122"/>
                <a:cs typeface="Calibri" pitchFamily="34" charset="-120"/>
              </a:rPr>
              <a:t>6</a:t>
            </a:r>
            <a:endParaRPr lang="en-US" sz="1400" dirty="0"/>
          </a:p>
        </p:txBody>
      </p:sp>
      <p:sp>
        <p:nvSpPr>
          <p:cNvPr id="4" name="Text 1"/>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4000" b="1" dirty="0">
                <a:solidFill>
                  <a:srgbClr val="15213F"/>
                </a:solidFill>
                <a:latin typeface="Arial" pitchFamily="34" charset="0"/>
                <a:ea typeface="Arial" pitchFamily="34" charset="-122"/>
                <a:cs typeface="Arial" pitchFamily="34" charset="-120"/>
              </a:rPr>
              <a:t>Кластер, шарды, реплики</a:t>
            </a:r>
            <a:endParaRPr lang="en-US" sz="4000" dirty="0"/>
          </a:p>
        </p:txBody>
      </p:sp>
      <p:sp>
        <p:nvSpPr>
          <p:cNvPr id="5" name="Shape 2"/>
          <p:cNvSpPr/>
          <p:nvPr/>
        </p:nvSpPr>
        <p:spPr>
          <a:xfrm>
            <a:off x="548640" y="1463040"/>
            <a:ext cx="3383280" cy="3291840"/>
          </a:xfrm>
          <a:prstGeom prst="roundRect">
            <a:avLst>
              <a:gd name="adj" fmla="val 4167"/>
            </a:avLst>
          </a:prstGeom>
          <a:solidFill>
            <a:srgbClr val="F3F6FA"/>
          </a:solidFill>
          <a:ln w="12700">
            <a:solidFill>
              <a:srgbClr val="C9D2E0"/>
            </a:solidFill>
            <a:prstDash val="solid"/>
          </a:ln>
        </p:spPr>
      </p:sp>
      <p:sp>
        <p:nvSpPr>
          <p:cNvPr id="6" name="Text 3"/>
          <p:cNvSpPr txBox="1"/>
          <p:nvPr/>
        </p:nvSpPr>
        <p:spPr>
          <a:xfrm>
            <a:off x="548640" y="1600200"/>
            <a:ext cx="3383280" cy="640080"/>
          </a:xfrm>
          <a:prstGeom prst="rect">
            <a:avLst/>
          </a:prstGeom>
          <a:noFill/>
          <a:ln/>
        </p:spPr>
        <p:txBody>
          <a:bodyPr wrap="square" lIns="0" tIns="0" rIns="0" bIns="0" rtlCol="0" anchor="ctr"/>
          <a:lstStyle/>
          <a:p>
            <a:pPr marL="0" indent="0" algn="ctr">
              <a:buNone/>
            </a:pPr>
            <a:r>
              <a:rPr lang="en-US" sz="3000" b="1" dirty="0">
                <a:solidFill>
                  <a:srgbClr val="15213F"/>
                </a:solidFill>
                <a:latin typeface="Calibri" pitchFamily="34" charset="0"/>
                <a:ea typeface="Calibri" pitchFamily="34" charset="-122"/>
                <a:cs typeface="Calibri" pitchFamily="34" charset="-120"/>
              </a:rPr>
              <a:t>Узел 1</a:t>
            </a:r>
            <a:endParaRPr lang="en-US" sz="3000" dirty="0"/>
          </a:p>
        </p:txBody>
      </p:sp>
      <p:pic>
        <p:nvPicPr>
          <p:cNvPr id="7" name="Image 0" descr="preencoded.png"/>
          <p:cNvPicPr>
            <a:picLocks noChangeAspect="1"/>
          </p:cNvPicPr>
          <p:nvPr/>
        </p:nvPicPr>
        <p:blipFill>
          <a:blip r:embed="rId3"/>
          <a:stretch>
            <a:fillRect/>
          </a:stretch>
        </p:blipFill>
        <p:spPr>
          <a:xfrm>
            <a:off x="1965960" y="2286000"/>
            <a:ext cx="548640" cy="548640"/>
          </a:xfrm>
          <a:prstGeom prst="rect">
            <a:avLst/>
          </a:prstGeom>
        </p:spPr>
      </p:pic>
      <p:sp>
        <p:nvSpPr>
          <p:cNvPr id="8" name="Shape 4"/>
          <p:cNvSpPr/>
          <p:nvPr/>
        </p:nvSpPr>
        <p:spPr>
          <a:xfrm>
            <a:off x="822960" y="3200400"/>
            <a:ext cx="1325880" cy="1188720"/>
          </a:xfrm>
          <a:prstGeom prst="roundRect">
            <a:avLst>
              <a:gd name="adj" fmla="val 9231"/>
            </a:avLst>
          </a:prstGeom>
          <a:solidFill>
            <a:srgbClr val="00A79D"/>
          </a:solidFill>
          <a:ln w="12700">
            <a:solidFill>
              <a:srgbClr val="00A79D"/>
            </a:solidFill>
            <a:prstDash val="solid"/>
          </a:ln>
        </p:spPr>
      </p:sp>
      <p:sp>
        <p:nvSpPr>
          <p:cNvPr id="9" name="Text 5"/>
          <p:cNvSpPr txBox="1"/>
          <p:nvPr/>
        </p:nvSpPr>
        <p:spPr>
          <a:xfrm>
            <a:off x="822960" y="3200400"/>
            <a:ext cx="1325880" cy="1188720"/>
          </a:xfrm>
          <a:prstGeom prst="rect">
            <a:avLst/>
          </a:prstGeom>
          <a:noFill/>
          <a:ln/>
        </p:spPr>
        <p:txBody>
          <a:bodyPr wrap="square" lIns="0" tIns="0" rIns="0" bIns="0"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P0</a:t>
            </a:r>
            <a:endParaRPr lang="en-US" sz="3000" dirty="0"/>
          </a:p>
        </p:txBody>
      </p:sp>
      <p:sp>
        <p:nvSpPr>
          <p:cNvPr id="10" name="Shape 6"/>
          <p:cNvSpPr/>
          <p:nvPr/>
        </p:nvSpPr>
        <p:spPr>
          <a:xfrm>
            <a:off x="2331720" y="3200400"/>
            <a:ext cx="1325880" cy="1188720"/>
          </a:xfrm>
          <a:prstGeom prst="roundRect">
            <a:avLst>
              <a:gd name="adj" fmla="val 9231"/>
            </a:avLst>
          </a:prstGeom>
          <a:solidFill>
            <a:srgbClr val="B9C3D3"/>
          </a:solidFill>
          <a:ln w="12700">
            <a:solidFill>
              <a:srgbClr val="B9C3D3"/>
            </a:solidFill>
            <a:prstDash val="solid"/>
          </a:ln>
        </p:spPr>
      </p:sp>
      <p:sp>
        <p:nvSpPr>
          <p:cNvPr id="11" name="Text 7"/>
          <p:cNvSpPr txBox="1"/>
          <p:nvPr/>
        </p:nvSpPr>
        <p:spPr>
          <a:xfrm>
            <a:off x="2331720" y="3200400"/>
            <a:ext cx="1325880" cy="1188720"/>
          </a:xfrm>
          <a:prstGeom prst="rect">
            <a:avLst/>
          </a:prstGeom>
          <a:noFill/>
          <a:ln/>
        </p:spPr>
        <p:txBody>
          <a:bodyPr wrap="square" lIns="0" tIns="0" rIns="0" bIns="0" rtlCol="0" anchor="ctr"/>
          <a:lstStyle/>
          <a:p>
            <a:pPr marL="0" indent="0" algn="ctr">
              <a:buNone/>
            </a:pPr>
            <a:r>
              <a:rPr lang="en-US" sz="3000" b="1" dirty="0">
                <a:solidFill>
                  <a:srgbClr val="15213F"/>
                </a:solidFill>
                <a:latin typeface="Arial" pitchFamily="34" charset="0"/>
                <a:ea typeface="Arial" pitchFamily="34" charset="-122"/>
                <a:cs typeface="Arial" pitchFamily="34" charset="-120"/>
              </a:rPr>
              <a:t>R1</a:t>
            </a:r>
            <a:endParaRPr lang="en-US" sz="3000" dirty="0"/>
          </a:p>
        </p:txBody>
      </p:sp>
      <p:sp>
        <p:nvSpPr>
          <p:cNvPr id="12" name="Shape 8"/>
          <p:cNvSpPr/>
          <p:nvPr/>
        </p:nvSpPr>
        <p:spPr>
          <a:xfrm>
            <a:off x="4389120" y="1463040"/>
            <a:ext cx="3383280" cy="3291840"/>
          </a:xfrm>
          <a:prstGeom prst="roundRect">
            <a:avLst>
              <a:gd name="adj" fmla="val 4167"/>
            </a:avLst>
          </a:prstGeom>
          <a:solidFill>
            <a:srgbClr val="F3F6FA"/>
          </a:solidFill>
          <a:ln w="12700">
            <a:solidFill>
              <a:srgbClr val="C9D2E0"/>
            </a:solidFill>
            <a:prstDash val="solid"/>
          </a:ln>
        </p:spPr>
      </p:sp>
      <p:sp>
        <p:nvSpPr>
          <p:cNvPr id="13" name="Text 9"/>
          <p:cNvSpPr txBox="1"/>
          <p:nvPr/>
        </p:nvSpPr>
        <p:spPr>
          <a:xfrm>
            <a:off x="4389120" y="1600200"/>
            <a:ext cx="3383280" cy="640080"/>
          </a:xfrm>
          <a:prstGeom prst="rect">
            <a:avLst/>
          </a:prstGeom>
          <a:noFill/>
          <a:ln/>
        </p:spPr>
        <p:txBody>
          <a:bodyPr wrap="square" lIns="0" tIns="0" rIns="0" bIns="0" rtlCol="0" anchor="ctr"/>
          <a:lstStyle/>
          <a:p>
            <a:pPr marL="0" indent="0" algn="ctr">
              <a:buNone/>
            </a:pPr>
            <a:r>
              <a:rPr lang="en-US" sz="3000" b="1" dirty="0">
                <a:solidFill>
                  <a:srgbClr val="15213F"/>
                </a:solidFill>
                <a:latin typeface="Calibri" pitchFamily="34" charset="0"/>
                <a:ea typeface="Calibri" pitchFamily="34" charset="-122"/>
                <a:cs typeface="Calibri" pitchFamily="34" charset="-120"/>
              </a:rPr>
              <a:t>Узел 2</a:t>
            </a:r>
            <a:endParaRPr lang="en-US" sz="3000" dirty="0"/>
          </a:p>
        </p:txBody>
      </p:sp>
      <p:pic>
        <p:nvPicPr>
          <p:cNvPr id="14" name="Image 1" descr="preencoded.png"/>
          <p:cNvPicPr>
            <a:picLocks noChangeAspect="1"/>
          </p:cNvPicPr>
          <p:nvPr/>
        </p:nvPicPr>
        <p:blipFill>
          <a:blip r:embed="rId3"/>
          <a:stretch>
            <a:fillRect/>
          </a:stretch>
        </p:blipFill>
        <p:spPr>
          <a:xfrm>
            <a:off x="5806440" y="2286000"/>
            <a:ext cx="548640" cy="548640"/>
          </a:xfrm>
          <a:prstGeom prst="rect">
            <a:avLst/>
          </a:prstGeom>
        </p:spPr>
      </p:pic>
      <p:sp>
        <p:nvSpPr>
          <p:cNvPr id="15" name="Shape 10"/>
          <p:cNvSpPr/>
          <p:nvPr/>
        </p:nvSpPr>
        <p:spPr>
          <a:xfrm>
            <a:off x="4663440" y="3200400"/>
            <a:ext cx="1325880" cy="1188720"/>
          </a:xfrm>
          <a:prstGeom prst="roundRect">
            <a:avLst>
              <a:gd name="adj" fmla="val 9231"/>
            </a:avLst>
          </a:prstGeom>
          <a:solidFill>
            <a:srgbClr val="00A79D"/>
          </a:solidFill>
          <a:ln w="12700">
            <a:solidFill>
              <a:srgbClr val="00A79D"/>
            </a:solidFill>
            <a:prstDash val="solid"/>
          </a:ln>
        </p:spPr>
      </p:sp>
      <p:sp>
        <p:nvSpPr>
          <p:cNvPr id="16" name="Text 11"/>
          <p:cNvSpPr txBox="1"/>
          <p:nvPr/>
        </p:nvSpPr>
        <p:spPr>
          <a:xfrm>
            <a:off x="4663440" y="3200400"/>
            <a:ext cx="1325880" cy="1188720"/>
          </a:xfrm>
          <a:prstGeom prst="rect">
            <a:avLst/>
          </a:prstGeom>
          <a:noFill/>
          <a:ln/>
        </p:spPr>
        <p:txBody>
          <a:bodyPr wrap="square" lIns="0" tIns="0" rIns="0" bIns="0"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P1</a:t>
            </a:r>
            <a:endParaRPr lang="en-US" sz="3000" dirty="0"/>
          </a:p>
        </p:txBody>
      </p:sp>
      <p:sp>
        <p:nvSpPr>
          <p:cNvPr id="17" name="Shape 12"/>
          <p:cNvSpPr/>
          <p:nvPr/>
        </p:nvSpPr>
        <p:spPr>
          <a:xfrm>
            <a:off x="6172200" y="3200400"/>
            <a:ext cx="1325880" cy="1188720"/>
          </a:xfrm>
          <a:prstGeom prst="roundRect">
            <a:avLst>
              <a:gd name="adj" fmla="val 9231"/>
            </a:avLst>
          </a:prstGeom>
          <a:solidFill>
            <a:srgbClr val="B9C3D3"/>
          </a:solidFill>
          <a:ln w="12700">
            <a:solidFill>
              <a:srgbClr val="B9C3D3"/>
            </a:solidFill>
            <a:prstDash val="solid"/>
          </a:ln>
        </p:spPr>
      </p:sp>
      <p:sp>
        <p:nvSpPr>
          <p:cNvPr id="18" name="Text 13"/>
          <p:cNvSpPr txBox="1"/>
          <p:nvPr/>
        </p:nvSpPr>
        <p:spPr>
          <a:xfrm>
            <a:off x="6172200" y="3200400"/>
            <a:ext cx="1325880" cy="1188720"/>
          </a:xfrm>
          <a:prstGeom prst="rect">
            <a:avLst/>
          </a:prstGeom>
          <a:noFill/>
          <a:ln/>
        </p:spPr>
        <p:txBody>
          <a:bodyPr wrap="square" lIns="0" tIns="0" rIns="0" bIns="0" rtlCol="0" anchor="ctr"/>
          <a:lstStyle/>
          <a:p>
            <a:pPr marL="0" indent="0" algn="ctr">
              <a:buNone/>
            </a:pPr>
            <a:r>
              <a:rPr lang="en-US" sz="3000" b="1" dirty="0">
                <a:solidFill>
                  <a:srgbClr val="15213F"/>
                </a:solidFill>
                <a:latin typeface="Arial" pitchFamily="34" charset="0"/>
                <a:ea typeface="Arial" pitchFamily="34" charset="-122"/>
                <a:cs typeface="Arial" pitchFamily="34" charset="-120"/>
              </a:rPr>
              <a:t>R2</a:t>
            </a:r>
            <a:endParaRPr lang="en-US" sz="3000" dirty="0"/>
          </a:p>
        </p:txBody>
      </p:sp>
      <p:sp>
        <p:nvSpPr>
          <p:cNvPr id="19" name="Shape 14"/>
          <p:cNvSpPr/>
          <p:nvPr/>
        </p:nvSpPr>
        <p:spPr>
          <a:xfrm>
            <a:off x="8229600" y="1463040"/>
            <a:ext cx="3383280" cy="3291840"/>
          </a:xfrm>
          <a:prstGeom prst="roundRect">
            <a:avLst>
              <a:gd name="adj" fmla="val 4167"/>
            </a:avLst>
          </a:prstGeom>
          <a:solidFill>
            <a:srgbClr val="F3F6FA"/>
          </a:solidFill>
          <a:ln w="12700">
            <a:solidFill>
              <a:srgbClr val="C9D2E0"/>
            </a:solidFill>
            <a:prstDash val="solid"/>
          </a:ln>
        </p:spPr>
      </p:sp>
      <p:sp>
        <p:nvSpPr>
          <p:cNvPr id="20" name="Text 15"/>
          <p:cNvSpPr txBox="1"/>
          <p:nvPr/>
        </p:nvSpPr>
        <p:spPr>
          <a:xfrm>
            <a:off x="8229600" y="1600200"/>
            <a:ext cx="3383280" cy="640080"/>
          </a:xfrm>
          <a:prstGeom prst="rect">
            <a:avLst/>
          </a:prstGeom>
          <a:noFill/>
          <a:ln/>
        </p:spPr>
        <p:txBody>
          <a:bodyPr wrap="square" lIns="0" tIns="0" rIns="0" bIns="0" rtlCol="0" anchor="ctr"/>
          <a:lstStyle/>
          <a:p>
            <a:pPr marL="0" indent="0" algn="ctr">
              <a:buNone/>
            </a:pPr>
            <a:r>
              <a:rPr lang="en-US" sz="3000" b="1" dirty="0">
                <a:solidFill>
                  <a:srgbClr val="15213F"/>
                </a:solidFill>
                <a:latin typeface="Calibri" pitchFamily="34" charset="0"/>
                <a:ea typeface="Calibri" pitchFamily="34" charset="-122"/>
                <a:cs typeface="Calibri" pitchFamily="34" charset="-120"/>
              </a:rPr>
              <a:t>Узел 3</a:t>
            </a:r>
            <a:endParaRPr lang="en-US" sz="3000" dirty="0"/>
          </a:p>
        </p:txBody>
      </p:sp>
      <p:pic>
        <p:nvPicPr>
          <p:cNvPr id="21" name="Image 2" descr="preencoded.png"/>
          <p:cNvPicPr>
            <a:picLocks noChangeAspect="1"/>
          </p:cNvPicPr>
          <p:nvPr/>
        </p:nvPicPr>
        <p:blipFill>
          <a:blip r:embed="rId3"/>
          <a:stretch>
            <a:fillRect/>
          </a:stretch>
        </p:blipFill>
        <p:spPr>
          <a:xfrm>
            <a:off x="9646920" y="2286000"/>
            <a:ext cx="548640" cy="548640"/>
          </a:xfrm>
          <a:prstGeom prst="rect">
            <a:avLst/>
          </a:prstGeom>
        </p:spPr>
      </p:pic>
      <p:sp>
        <p:nvSpPr>
          <p:cNvPr id="22" name="Shape 16"/>
          <p:cNvSpPr/>
          <p:nvPr/>
        </p:nvSpPr>
        <p:spPr>
          <a:xfrm>
            <a:off x="8503920" y="3200400"/>
            <a:ext cx="1325880" cy="1188720"/>
          </a:xfrm>
          <a:prstGeom prst="roundRect">
            <a:avLst>
              <a:gd name="adj" fmla="val 9231"/>
            </a:avLst>
          </a:prstGeom>
          <a:solidFill>
            <a:srgbClr val="00A79D"/>
          </a:solidFill>
          <a:ln w="12700">
            <a:solidFill>
              <a:srgbClr val="00A79D"/>
            </a:solidFill>
            <a:prstDash val="solid"/>
          </a:ln>
        </p:spPr>
      </p:sp>
      <p:sp>
        <p:nvSpPr>
          <p:cNvPr id="23" name="Text 17"/>
          <p:cNvSpPr txBox="1"/>
          <p:nvPr/>
        </p:nvSpPr>
        <p:spPr>
          <a:xfrm>
            <a:off x="8503920" y="3200400"/>
            <a:ext cx="1325880" cy="1188720"/>
          </a:xfrm>
          <a:prstGeom prst="rect">
            <a:avLst/>
          </a:prstGeom>
          <a:noFill/>
          <a:ln/>
        </p:spPr>
        <p:txBody>
          <a:bodyPr wrap="square" lIns="0" tIns="0" rIns="0" bIns="0" rtlCol="0" anchor="ctr"/>
          <a:lstStyle/>
          <a:p>
            <a:pPr marL="0" indent="0" algn="ctr">
              <a:buNone/>
            </a:pPr>
            <a:r>
              <a:rPr lang="en-US" sz="3000" b="1" dirty="0">
                <a:solidFill>
                  <a:srgbClr val="FFFFFF"/>
                </a:solidFill>
                <a:latin typeface="Arial" pitchFamily="34" charset="0"/>
                <a:ea typeface="Arial" pitchFamily="34" charset="-122"/>
                <a:cs typeface="Arial" pitchFamily="34" charset="-120"/>
              </a:rPr>
              <a:t>P2</a:t>
            </a:r>
            <a:endParaRPr lang="en-US" sz="3000" dirty="0"/>
          </a:p>
        </p:txBody>
      </p:sp>
      <p:sp>
        <p:nvSpPr>
          <p:cNvPr id="24" name="Shape 18"/>
          <p:cNvSpPr/>
          <p:nvPr/>
        </p:nvSpPr>
        <p:spPr>
          <a:xfrm>
            <a:off x="10012680" y="3200400"/>
            <a:ext cx="1325880" cy="1188720"/>
          </a:xfrm>
          <a:prstGeom prst="roundRect">
            <a:avLst>
              <a:gd name="adj" fmla="val 9231"/>
            </a:avLst>
          </a:prstGeom>
          <a:solidFill>
            <a:srgbClr val="B9C3D3"/>
          </a:solidFill>
          <a:ln w="12700">
            <a:solidFill>
              <a:srgbClr val="B9C3D3"/>
            </a:solidFill>
            <a:prstDash val="solid"/>
          </a:ln>
        </p:spPr>
      </p:sp>
      <p:sp>
        <p:nvSpPr>
          <p:cNvPr id="25" name="Text 19"/>
          <p:cNvSpPr txBox="1"/>
          <p:nvPr/>
        </p:nvSpPr>
        <p:spPr>
          <a:xfrm>
            <a:off x="10012680" y="3200400"/>
            <a:ext cx="1325880" cy="1188720"/>
          </a:xfrm>
          <a:prstGeom prst="rect">
            <a:avLst/>
          </a:prstGeom>
          <a:noFill/>
          <a:ln/>
        </p:spPr>
        <p:txBody>
          <a:bodyPr wrap="square" lIns="0" tIns="0" rIns="0" bIns="0" rtlCol="0" anchor="ctr"/>
          <a:lstStyle/>
          <a:p>
            <a:pPr marL="0" indent="0" algn="ctr">
              <a:buNone/>
            </a:pPr>
            <a:r>
              <a:rPr lang="en-US" sz="3000" b="1" dirty="0">
                <a:solidFill>
                  <a:srgbClr val="15213F"/>
                </a:solidFill>
                <a:latin typeface="Arial" pitchFamily="34" charset="0"/>
                <a:ea typeface="Arial" pitchFamily="34" charset="-122"/>
                <a:cs typeface="Arial" pitchFamily="34" charset="-120"/>
              </a:rPr>
              <a:t>R0</a:t>
            </a:r>
            <a:endParaRPr lang="en-US" sz="3000" dirty="0"/>
          </a:p>
        </p:txBody>
      </p:sp>
      <p:sp>
        <p:nvSpPr>
          <p:cNvPr id="26" name="Shape 20"/>
          <p:cNvSpPr/>
          <p:nvPr/>
        </p:nvSpPr>
        <p:spPr>
          <a:xfrm>
            <a:off x="548640" y="5120640"/>
            <a:ext cx="5394960" cy="1097280"/>
          </a:xfrm>
          <a:prstGeom prst="roundRect">
            <a:avLst>
              <a:gd name="adj" fmla="val 10000"/>
            </a:avLst>
          </a:prstGeom>
          <a:solidFill>
            <a:srgbClr val="00A79D"/>
          </a:solidFill>
          <a:ln w="12700">
            <a:solidFill>
              <a:srgbClr val="00A79D"/>
            </a:solidFill>
            <a:prstDash val="solid"/>
          </a:ln>
        </p:spPr>
      </p:sp>
      <p:sp>
        <p:nvSpPr>
          <p:cNvPr id="27" name="Text 21"/>
          <p:cNvSpPr txBox="1"/>
          <p:nvPr/>
        </p:nvSpPr>
        <p:spPr>
          <a:xfrm>
            <a:off x="548640" y="5120640"/>
            <a:ext cx="5394960" cy="109728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P — шард: скорость</a:t>
            </a:r>
            <a:endParaRPr lang="en-US" sz="3000" dirty="0"/>
          </a:p>
        </p:txBody>
      </p:sp>
      <p:sp>
        <p:nvSpPr>
          <p:cNvPr id="28" name="Shape 22"/>
          <p:cNvSpPr/>
          <p:nvPr/>
        </p:nvSpPr>
        <p:spPr>
          <a:xfrm>
            <a:off x="6217920" y="5120640"/>
            <a:ext cx="5394960" cy="1097280"/>
          </a:xfrm>
          <a:prstGeom prst="roundRect">
            <a:avLst>
              <a:gd name="adj" fmla="val 10000"/>
            </a:avLst>
          </a:prstGeom>
          <a:solidFill>
            <a:srgbClr val="B9C3D3"/>
          </a:solidFill>
          <a:ln w="12700">
            <a:solidFill>
              <a:srgbClr val="B9C3D3"/>
            </a:solidFill>
            <a:prstDash val="solid"/>
          </a:ln>
        </p:spPr>
      </p:sp>
      <p:sp>
        <p:nvSpPr>
          <p:cNvPr id="29" name="Text 23"/>
          <p:cNvSpPr txBox="1"/>
          <p:nvPr/>
        </p:nvSpPr>
        <p:spPr>
          <a:xfrm>
            <a:off x="6217920" y="5120640"/>
            <a:ext cx="5394960" cy="1097280"/>
          </a:xfrm>
          <a:prstGeom prst="rect">
            <a:avLst/>
          </a:prstGeom>
          <a:noFill/>
          <a:ln/>
        </p:spPr>
        <p:txBody>
          <a:bodyPr wrap="square" lIns="0" tIns="0" rIns="0" bIns="0" rtlCol="0" anchor="ctr"/>
          <a:lstStyle/>
          <a:p>
            <a:pPr marL="0" indent="0" algn="ctr">
              <a:buNone/>
            </a:pPr>
            <a:r>
              <a:rPr lang="en-US" sz="3000" b="1" dirty="0">
                <a:solidFill>
                  <a:srgbClr val="15213F"/>
                </a:solidFill>
                <a:latin typeface="Calibri" pitchFamily="34" charset="0"/>
                <a:ea typeface="Calibri" pitchFamily="34" charset="-122"/>
                <a:cs typeface="Calibri" pitchFamily="34" charset="-120"/>
              </a:rPr>
              <a:t>R — реплика: надёжность</a:t>
            </a:r>
            <a:endParaRPr lang="en-US" sz="3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11247120" y="6309360"/>
            <a:ext cx="640080" cy="365760"/>
          </a:xfrm>
          <a:prstGeom prst="rect">
            <a:avLst/>
          </a:prstGeom>
          <a:noFill/>
          <a:ln/>
        </p:spPr>
        <p:txBody>
          <a:bodyPr wrap="square" lIns="0" tIns="0" rIns="0" bIns="0" rtlCol="0" anchor="ctr"/>
          <a:lstStyle/>
          <a:p>
            <a:pPr marL="0" indent="0" algn="r">
              <a:buNone/>
            </a:pPr>
            <a:r>
              <a:rPr lang="en-US" sz="1400" dirty="0">
                <a:solidFill>
                  <a:srgbClr val="8A93AD"/>
                </a:solidFill>
                <a:latin typeface="Calibri" pitchFamily="34" charset="0"/>
                <a:ea typeface="Calibri" pitchFamily="34" charset="-122"/>
                <a:cs typeface="Calibri" pitchFamily="34" charset="-120"/>
              </a:rPr>
              <a:t>7</a:t>
            </a:r>
            <a:endParaRPr lang="en-US" sz="1400" dirty="0"/>
          </a:p>
        </p:txBody>
      </p:sp>
      <p:sp>
        <p:nvSpPr>
          <p:cNvPr id="4" name="Text 1"/>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4000" b="1" dirty="0">
                <a:solidFill>
                  <a:srgbClr val="15213F"/>
                </a:solidFill>
                <a:latin typeface="Arial" pitchFamily="34" charset="0"/>
                <a:ea typeface="Arial" pitchFamily="34" charset="-122"/>
                <a:cs typeface="Arial" pitchFamily="34" charset="-120"/>
              </a:rPr>
              <a:t>Elastic Stack (ELK)</a:t>
            </a:r>
            <a:endParaRPr lang="en-US" sz="4000" dirty="0"/>
          </a:p>
        </p:txBody>
      </p:sp>
      <p:sp>
        <p:nvSpPr>
          <p:cNvPr id="5" name="Shape 2"/>
          <p:cNvSpPr/>
          <p:nvPr/>
        </p:nvSpPr>
        <p:spPr>
          <a:xfrm>
            <a:off x="960120" y="1828800"/>
            <a:ext cx="1828800" cy="1828800"/>
          </a:xfrm>
          <a:prstGeom prst="ellipse">
            <a:avLst/>
          </a:prstGeom>
          <a:solidFill>
            <a:srgbClr val="0B64DD"/>
          </a:solidFill>
          <a:ln w="12700">
            <a:solidFill>
              <a:srgbClr val="0B64DD"/>
            </a:solidFill>
            <a:prstDash val="solid"/>
          </a:ln>
        </p:spPr>
      </p:sp>
      <p:pic>
        <p:nvPicPr>
          <p:cNvPr id="6" name="Image 0" descr="preencoded.png"/>
          <p:cNvPicPr>
            <a:picLocks noChangeAspect="1"/>
          </p:cNvPicPr>
          <p:nvPr/>
        </p:nvPicPr>
        <p:blipFill>
          <a:blip r:embed="rId3"/>
          <a:stretch>
            <a:fillRect/>
          </a:stretch>
        </p:blipFill>
        <p:spPr>
          <a:xfrm>
            <a:off x="1417320" y="2286000"/>
            <a:ext cx="914400" cy="914400"/>
          </a:xfrm>
          <a:prstGeom prst="rect">
            <a:avLst/>
          </a:prstGeom>
        </p:spPr>
      </p:pic>
      <p:sp>
        <p:nvSpPr>
          <p:cNvPr id="7" name="Text 3"/>
          <p:cNvSpPr txBox="1"/>
          <p:nvPr/>
        </p:nvSpPr>
        <p:spPr>
          <a:xfrm>
            <a:off x="457200" y="3840480"/>
            <a:ext cx="2834640" cy="1097280"/>
          </a:xfrm>
          <a:prstGeom prst="rect">
            <a:avLst/>
          </a:prstGeom>
          <a:noFill/>
          <a:ln/>
        </p:spPr>
        <p:txBody>
          <a:bodyPr wrap="square" lIns="0" tIns="0" rIns="0" bIns="0" rtlCol="0" anchor="ctr"/>
          <a:lstStyle/>
          <a:p>
            <a:pPr marL="0" indent="0" algn="ctr">
              <a:buNone/>
            </a:pPr>
            <a:r>
              <a:rPr lang="en-US" sz="3000" b="1" dirty="0">
                <a:solidFill>
                  <a:srgbClr val="1C2333"/>
                </a:solidFill>
                <a:latin typeface="Calibri" pitchFamily="34" charset="0"/>
                <a:ea typeface="Calibri" pitchFamily="34" charset="-122"/>
                <a:cs typeface="Calibri" pitchFamily="34" charset="-120"/>
              </a:rPr>
              <a:t>Beats</a:t>
            </a:r>
            <a:endParaRPr lang="en-US" sz="3000" dirty="0"/>
          </a:p>
        </p:txBody>
      </p:sp>
      <p:sp>
        <p:nvSpPr>
          <p:cNvPr id="8" name="Text 4"/>
          <p:cNvSpPr txBox="1"/>
          <p:nvPr/>
        </p:nvSpPr>
        <p:spPr>
          <a:xfrm>
            <a:off x="457200" y="5029200"/>
            <a:ext cx="2834640" cy="731520"/>
          </a:xfrm>
          <a:prstGeom prst="rect">
            <a:avLst/>
          </a:prstGeom>
          <a:noFill/>
          <a:ln/>
        </p:spPr>
        <p:txBody>
          <a:bodyPr wrap="square" lIns="0" tIns="0" rIns="0" bIns="0" rtlCol="0" anchor="ctr"/>
          <a:lstStyle/>
          <a:p>
            <a:pPr marL="0" indent="0" algn="ctr">
              <a:buNone/>
            </a:pPr>
            <a:r>
              <a:rPr lang="en-US" sz="3000" dirty="0">
                <a:solidFill>
                  <a:srgbClr val="5B6477"/>
                </a:solidFill>
                <a:latin typeface="Calibri" pitchFamily="34" charset="0"/>
                <a:ea typeface="Calibri" pitchFamily="34" charset="-122"/>
                <a:cs typeface="Calibri" pitchFamily="34" charset="-120"/>
              </a:rPr>
              <a:t>сбор</a:t>
            </a:r>
            <a:endParaRPr lang="en-US" sz="3000" dirty="0"/>
          </a:p>
        </p:txBody>
      </p:sp>
      <p:sp>
        <p:nvSpPr>
          <p:cNvPr id="9" name="Shape 5"/>
          <p:cNvSpPr/>
          <p:nvPr/>
        </p:nvSpPr>
        <p:spPr>
          <a:xfrm>
            <a:off x="2926080" y="2542032"/>
            <a:ext cx="502920" cy="411480"/>
          </a:xfrm>
          <a:prstGeom prst="rightArrow">
            <a:avLst/>
          </a:prstGeom>
          <a:solidFill>
            <a:srgbClr val="5B6477"/>
          </a:solidFill>
          <a:ln w="12700">
            <a:solidFill>
              <a:srgbClr val="5B6477"/>
            </a:solidFill>
            <a:prstDash val="solid"/>
          </a:ln>
        </p:spPr>
      </p:sp>
      <p:sp>
        <p:nvSpPr>
          <p:cNvPr id="10" name="Shape 6"/>
          <p:cNvSpPr/>
          <p:nvPr/>
        </p:nvSpPr>
        <p:spPr>
          <a:xfrm>
            <a:off x="3840480" y="1828800"/>
            <a:ext cx="1828800" cy="1828800"/>
          </a:xfrm>
          <a:prstGeom prst="ellipse">
            <a:avLst/>
          </a:prstGeom>
          <a:solidFill>
            <a:srgbClr val="F04E98"/>
          </a:solidFill>
          <a:ln w="12700">
            <a:solidFill>
              <a:srgbClr val="F04E98"/>
            </a:solidFill>
            <a:prstDash val="solid"/>
          </a:ln>
        </p:spPr>
      </p:sp>
      <p:pic>
        <p:nvPicPr>
          <p:cNvPr id="11" name="Image 1" descr="preencoded.png"/>
          <p:cNvPicPr>
            <a:picLocks noChangeAspect="1"/>
          </p:cNvPicPr>
          <p:nvPr/>
        </p:nvPicPr>
        <p:blipFill>
          <a:blip r:embed="rId4"/>
          <a:stretch>
            <a:fillRect/>
          </a:stretch>
        </p:blipFill>
        <p:spPr>
          <a:xfrm>
            <a:off x="4297680" y="2286000"/>
            <a:ext cx="914400" cy="914400"/>
          </a:xfrm>
          <a:prstGeom prst="rect">
            <a:avLst/>
          </a:prstGeom>
        </p:spPr>
      </p:pic>
      <p:sp>
        <p:nvSpPr>
          <p:cNvPr id="12" name="Text 7"/>
          <p:cNvSpPr txBox="1"/>
          <p:nvPr/>
        </p:nvSpPr>
        <p:spPr>
          <a:xfrm>
            <a:off x="3337560" y="3840480"/>
            <a:ext cx="2834640" cy="1097280"/>
          </a:xfrm>
          <a:prstGeom prst="rect">
            <a:avLst/>
          </a:prstGeom>
          <a:noFill/>
          <a:ln/>
        </p:spPr>
        <p:txBody>
          <a:bodyPr wrap="square" lIns="0" tIns="0" rIns="0" bIns="0" rtlCol="0" anchor="ctr"/>
          <a:lstStyle/>
          <a:p>
            <a:pPr marL="0" indent="0" algn="ctr">
              <a:buNone/>
            </a:pPr>
            <a:r>
              <a:rPr lang="en-US" sz="3000" b="1" dirty="0">
                <a:solidFill>
                  <a:srgbClr val="1C2333"/>
                </a:solidFill>
                <a:latin typeface="Calibri" pitchFamily="34" charset="0"/>
                <a:ea typeface="Calibri" pitchFamily="34" charset="-122"/>
                <a:cs typeface="Calibri" pitchFamily="34" charset="-120"/>
              </a:rPr>
              <a:t>Logstash</a:t>
            </a:r>
            <a:endParaRPr lang="en-US" sz="3000" dirty="0"/>
          </a:p>
        </p:txBody>
      </p:sp>
      <p:sp>
        <p:nvSpPr>
          <p:cNvPr id="13" name="Text 8"/>
          <p:cNvSpPr txBox="1"/>
          <p:nvPr/>
        </p:nvSpPr>
        <p:spPr>
          <a:xfrm>
            <a:off x="3337560" y="5029200"/>
            <a:ext cx="2834640" cy="731520"/>
          </a:xfrm>
          <a:prstGeom prst="rect">
            <a:avLst/>
          </a:prstGeom>
          <a:noFill/>
          <a:ln/>
        </p:spPr>
        <p:txBody>
          <a:bodyPr wrap="square" lIns="0" tIns="0" rIns="0" bIns="0" rtlCol="0" anchor="ctr"/>
          <a:lstStyle/>
          <a:p>
            <a:pPr marL="0" indent="0" algn="ctr">
              <a:buNone/>
            </a:pPr>
            <a:r>
              <a:rPr lang="en-US" sz="3000" dirty="0">
                <a:solidFill>
                  <a:srgbClr val="5B6477"/>
                </a:solidFill>
                <a:latin typeface="Calibri" pitchFamily="34" charset="0"/>
                <a:ea typeface="Calibri" pitchFamily="34" charset="-122"/>
                <a:cs typeface="Calibri" pitchFamily="34" charset="-120"/>
              </a:rPr>
              <a:t>обработка</a:t>
            </a:r>
            <a:endParaRPr lang="en-US" sz="3000" dirty="0"/>
          </a:p>
        </p:txBody>
      </p:sp>
      <p:sp>
        <p:nvSpPr>
          <p:cNvPr id="14" name="Shape 9"/>
          <p:cNvSpPr/>
          <p:nvPr/>
        </p:nvSpPr>
        <p:spPr>
          <a:xfrm>
            <a:off x="5806440" y="2542032"/>
            <a:ext cx="502920" cy="411480"/>
          </a:xfrm>
          <a:prstGeom prst="rightArrow">
            <a:avLst/>
          </a:prstGeom>
          <a:solidFill>
            <a:srgbClr val="5B6477"/>
          </a:solidFill>
          <a:ln w="12700">
            <a:solidFill>
              <a:srgbClr val="5B6477"/>
            </a:solidFill>
            <a:prstDash val="solid"/>
          </a:ln>
        </p:spPr>
      </p:sp>
      <p:sp>
        <p:nvSpPr>
          <p:cNvPr id="15" name="Shape 10"/>
          <p:cNvSpPr/>
          <p:nvPr/>
        </p:nvSpPr>
        <p:spPr>
          <a:xfrm>
            <a:off x="6720840" y="1828800"/>
            <a:ext cx="1828800" cy="1828800"/>
          </a:xfrm>
          <a:prstGeom prst="ellipse">
            <a:avLst/>
          </a:prstGeom>
          <a:solidFill>
            <a:srgbClr val="00A79D"/>
          </a:solidFill>
          <a:ln w="12700">
            <a:solidFill>
              <a:srgbClr val="00A79D"/>
            </a:solidFill>
            <a:prstDash val="solid"/>
          </a:ln>
        </p:spPr>
      </p:sp>
      <p:pic>
        <p:nvPicPr>
          <p:cNvPr id="16" name="Image 2" descr="preencoded.png"/>
          <p:cNvPicPr>
            <a:picLocks noChangeAspect="1"/>
          </p:cNvPicPr>
          <p:nvPr/>
        </p:nvPicPr>
        <p:blipFill>
          <a:blip r:embed="rId5"/>
          <a:stretch>
            <a:fillRect/>
          </a:stretch>
        </p:blipFill>
        <p:spPr>
          <a:xfrm>
            <a:off x="7178040" y="2286000"/>
            <a:ext cx="914400" cy="914400"/>
          </a:xfrm>
          <a:prstGeom prst="rect">
            <a:avLst/>
          </a:prstGeom>
        </p:spPr>
      </p:pic>
      <p:sp>
        <p:nvSpPr>
          <p:cNvPr id="17" name="Text 11"/>
          <p:cNvSpPr txBox="1"/>
          <p:nvPr/>
        </p:nvSpPr>
        <p:spPr>
          <a:xfrm>
            <a:off x="6217920" y="3840480"/>
            <a:ext cx="2834640" cy="1097280"/>
          </a:xfrm>
          <a:prstGeom prst="rect">
            <a:avLst/>
          </a:prstGeom>
          <a:noFill/>
          <a:ln/>
        </p:spPr>
        <p:txBody>
          <a:bodyPr wrap="square" lIns="0" tIns="0" rIns="0" bIns="0" rtlCol="0" anchor="ctr"/>
          <a:lstStyle/>
          <a:p>
            <a:pPr marL="0" indent="0" algn="ctr">
              <a:buNone/>
            </a:pPr>
            <a:r>
              <a:rPr lang="en-US" sz="3000" b="1" dirty="0">
                <a:solidFill>
                  <a:srgbClr val="1C2333"/>
                </a:solidFill>
                <a:latin typeface="Calibri" pitchFamily="34" charset="0"/>
                <a:ea typeface="Calibri" pitchFamily="34" charset="-122"/>
                <a:cs typeface="Calibri" pitchFamily="34" charset="-120"/>
              </a:rPr>
              <a:t>Elastic-</a:t>
            </a:r>
            <a:endParaRPr lang="en-US" sz="3000" dirty="0"/>
          </a:p>
          <a:p>
            <a:pPr marL="0" indent="0" algn="ctr">
              <a:buNone/>
            </a:pPr>
            <a:r>
              <a:rPr lang="en-US" sz="3000" b="1" dirty="0">
                <a:solidFill>
                  <a:srgbClr val="1C2333"/>
                </a:solidFill>
                <a:latin typeface="Calibri" pitchFamily="34" charset="0"/>
                <a:ea typeface="Calibri" pitchFamily="34" charset="-122"/>
                <a:cs typeface="Calibri" pitchFamily="34" charset="-120"/>
              </a:rPr>
              <a:t>search</a:t>
            </a:r>
            <a:endParaRPr lang="en-US" sz="3000" dirty="0"/>
          </a:p>
        </p:txBody>
      </p:sp>
      <p:sp>
        <p:nvSpPr>
          <p:cNvPr id="18" name="Text 12"/>
          <p:cNvSpPr txBox="1"/>
          <p:nvPr/>
        </p:nvSpPr>
        <p:spPr>
          <a:xfrm>
            <a:off x="6217920" y="5029200"/>
            <a:ext cx="2834640" cy="731520"/>
          </a:xfrm>
          <a:prstGeom prst="rect">
            <a:avLst/>
          </a:prstGeom>
          <a:noFill/>
          <a:ln/>
        </p:spPr>
        <p:txBody>
          <a:bodyPr wrap="square" lIns="0" tIns="0" rIns="0" bIns="0" rtlCol="0" anchor="ctr"/>
          <a:lstStyle/>
          <a:p>
            <a:pPr marL="0" indent="0" algn="ctr">
              <a:buNone/>
            </a:pPr>
            <a:r>
              <a:rPr lang="en-US" sz="3000" dirty="0">
                <a:solidFill>
                  <a:srgbClr val="5B6477"/>
                </a:solidFill>
                <a:latin typeface="Calibri" pitchFamily="34" charset="0"/>
                <a:ea typeface="Calibri" pitchFamily="34" charset="-122"/>
                <a:cs typeface="Calibri" pitchFamily="34" charset="-120"/>
              </a:rPr>
              <a:t>поиск</a:t>
            </a:r>
            <a:endParaRPr lang="en-US" sz="3000" dirty="0"/>
          </a:p>
        </p:txBody>
      </p:sp>
      <p:sp>
        <p:nvSpPr>
          <p:cNvPr id="19" name="Shape 13"/>
          <p:cNvSpPr/>
          <p:nvPr/>
        </p:nvSpPr>
        <p:spPr>
          <a:xfrm>
            <a:off x="8686800" y="2542032"/>
            <a:ext cx="502920" cy="411480"/>
          </a:xfrm>
          <a:prstGeom prst="rightArrow">
            <a:avLst/>
          </a:prstGeom>
          <a:solidFill>
            <a:srgbClr val="5B6477"/>
          </a:solidFill>
          <a:ln w="12700">
            <a:solidFill>
              <a:srgbClr val="5B6477"/>
            </a:solidFill>
            <a:prstDash val="solid"/>
          </a:ln>
        </p:spPr>
      </p:sp>
      <p:sp>
        <p:nvSpPr>
          <p:cNvPr id="20" name="Shape 14"/>
          <p:cNvSpPr/>
          <p:nvPr/>
        </p:nvSpPr>
        <p:spPr>
          <a:xfrm>
            <a:off x="9601200" y="1828800"/>
            <a:ext cx="1828800" cy="1828800"/>
          </a:xfrm>
          <a:prstGeom prst="ellipse">
            <a:avLst/>
          </a:prstGeom>
          <a:solidFill>
            <a:srgbClr val="FEC514"/>
          </a:solidFill>
          <a:ln w="12700">
            <a:solidFill>
              <a:srgbClr val="FEC514"/>
            </a:solidFill>
            <a:prstDash val="solid"/>
          </a:ln>
        </p:spPr>
      </p:sp>
      <p:pic>
        <p:nvPicPr>
          <p:cNvPr id="21" name="Image 3" descr="preencoded.png"/>
          <p:cNvPicPr>
            <a:picLocks noChangeAspect="1"/>
          </p:cNvPicPr>
          <p:nvPr/>
        </p:nvPicPr>
        <p:blipFill>
          <a:blip r:embed="rId6"/>
          <a:stretch>
            <a:fillRect/>
          </a:stretch>
        </p:blipFill>
        <p:spPr>
          <a:xfrm>
            <a:off x="10058400" y="2286000"/>
            <a:ext cx="914400" cy="914400"/>
          </a:xfrm>
          <a:prstGeom prst="rect">
            <a:avLst/>
          </a:prstGeom>
        </p:spPr>
      </p:pic>
      <p:sp>
        <p:nvSpPr>
          <p:cNvPr id="22" name="Text 15"/>
          <p:cNvSpPr txBox="1"/>
          <p:nvPr/>
        </p:nvSpPr>
        <p:spPr>
          <a:xfrm>
            <a:off x="9098280" y="3840480"/>
            <a:ext cx="2834640" cy="1097280"/>
          </a:xfrm>
          <a:prstGeom prst="rect">
            <a:avLst/>
          </a:prstGeom>
          <a:noFill/>
          <a:ln/>
        </p:spPr>
        <p:txBody>
          <a:bodyPr wrap="square" lIns="0" tIns="0" rIns="0" bIns="0" rtlCol="0" anchor="ctr"/>
          <a:lstStyle/>
          <a:p>
            <a:pPr marL="0" indent="0" algn="ctr">
              <a:buNone/>
            </a:pPr>
            <a:r>
              <a:rPr lang="en-US" sz="3000" b="1" dirty="0">
                <a:solidFill>
                  <a:srgbClr val="1C2333"/>
                </a:solidFill>
                <a:latin typeface="Calibri" pitchFamily="34" charset="0"/>
                <a:ea typeface="Calibri" pitchFamily="34" charset="-122"/>
                <a:cs typeface="Calibri" pitchFamily="34" charset="-120"/>
              </a:rPr>
              <a:t>Kibana</a:t>
            </a:r>
            <a:endParaRPr lang="en-US" sz="3000" dirty="0"/>
          </a:p>
        </p:txBody>
      </p:sp>
      <p:sp>
        <p:nvSpPr>
          <p:cNvPr id="23" name="Text 16"/>
          <p:cNvSpPr txBox="1"/>
          <p:nvPr/>
        </p:nvSpPr>
        <p:spPr>
          <a:xfrm>
            <a:off x="9098280" y="5029200"/>
            <a:ext cx="2834640" cy="731520"/>
          </a:xfrm>
          <a:prstGeom prst="rect">
            <a:avLst/>
          </a:prstGeom>
          <a:noFill/>
          <a:ln/>
        </p:spPr>
        <p:txBody>
          <a:bodyPr wrap="square" lIns="0" tIns="0" rIns="0" bIns="0" rtlCol="0" anchor="ctr"/>
          <a:lstStyle/>
          <a:p>
            <a:pPr marL="0" indent="0" algn="ctr">
              <a:buNone/>
            </a:pPr>
            <a:r>
              <a:rPr lang="en-US" sz="3000" dirty="0">
                <a:solidFill>
                  <a:srgbClr val="5B6477"/>
                </a:solidFill>
                <a:latin typeface="Calibri" pitchFamily="34" charset="0"/>
                <a:ea typeface="Calibri" pitchFamily="34" charset="-122"/>
                <a:cs typeface="Calibri" pitchFamily="34" charset="-120"/>
              </a:rPr>
              <a:t>графики</a:t>
            </a: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11247120" y="6309360"/>
            <a:ext cx="640080" cy="365760"/>
          </a:xfrm>
          <a:prstGeom prst="rect">
            <a:avLst/>
          </a:prstGeom>
          <a:noFill/>
          <a:ln/>
        </p:spPr>
        <p:txBody>
          <a:bodyPr wrap="square" lIns="0" tIns="0" rIns="0" bIns="0" rtlCol="0" anchor="ctr"/>
          <a:lstStyle/>
          <a:p>
            <a:pPr marL="0" indent="0" algn="r">
              <a:buNone/>
            </a:pPr>
            <a:r>
              <a:rPr lang="en-US" sz="1400" dirty="0">
                <a:solidFill>
                  <a:srgbClr val="8A93AD"/>
                </a:solidFill>
                <a:latin typeface="Calibri" pitchFamily="34" charset="0"/>
                <a:ea typeface="Calibri" pitchFamily="34" charset="-122"/>
                <a:cs typeface="Calibri" pitchFamily="34" charset="-120"/>
              </a:rPr>
              <a:t>8</a:t>
            </a:r>
            <a:endParaRPr lang="en-US" sz="1400" dirty="0"/>
          </a:p>
        </p:txBody>
      </p:sp>
      <p:sp>
        <p:nvSpPr>
          <p:cNvPr id="4" name="Text 1"/>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4000" b="1" dirty="0">
                <a:solidFill>
                  <a:srgbClr val="15213F"/>
                </a:solidFill>
                <a:latin typeface="Arial" pitchFamily="34" charset="0"/>
                <a:ea typeface="Arial" pitchFamily="34" charset="-122"/>
                <a:cs typeface="Arial" pitchFamily="34" charset="-120"/>
              </a:rPr>
              <a:t>Место в архитектуре системы</a:t>
            </a:r>
            <a:endParaRPr lang="en-US" sz="4000" dirty="0"/>
          </a:p>
        </p:txBody>
      </p:sp>
      <p:sp>
        <p:nvSpPr>
          <p:cNvPr id="5" name="Shape 2"/>
          <p:cNvSpPr/>
          <p:nvPr/>
        </p:nvSpPr>
        <p:spPr>
          <a:xfrm>
            <a:off x="548640" y="1554480"/>
            <a:ext cx="4754880" cy="4480560"/>
          </a:xfrm>
          <a:prstGeom prst="roundRect">
            <a:avLst>
              <a:gd name="adj" fmla="val 3061"/>
            </a:avLst>
          </a:prstGeom>
          <a:solidFill>
            <a:srgbClr val="F3F6FA"/>
          </a:solidFill>
          <a:ln w="12700">
            <a:solidFill>
              <a:srgbClr val="F3F6FA"/>
            </a:solidFill>
            <a:prstDash val="solid"/>
          </a:ln>
        </p:spPr>
      </p:sp>
      <p:sp>
        <p:nvSpPr>
          <p:cNvPr id="6" name="Shape 3"/>
          <p:cNvSpPr/>
          <p:nvPr/>
        </p:nvSpPr>
        <p:spPr>
          <a:xfrm>
            <a:off x="2148840" y="1828800"/>
            <a:ext cx="1554480" cy="1554480"/>
          </a:xfrm>
          <a:prstGeom prst="ellipse">
            <a:avLst/>
          </a:prstGeom>
          <a:solidFill>
            <a:srgbClr val="0B64DD"/>
          </a:solidFill>
          <a:ln w="12700">
            <a:solidFill>
              <a:srgbClr val="0B64DD"/>
            </a:solidFill>
            <a:prstDash val="solid"/>
          </a:ln>
        </p:spPr>
      </p:sp>
      <p:pic>
        <p:nvPicPr>
          <p:cNvPr id="7" name="Image 0" descr="preencoded.png"/>
          <p:cNvPicPr>
            <a:picLocks noChangeAspect="1"/>
          </p:cNvPicPr>
          <p:nvPr/>
        </p:nvPicPr>
        <p:blipFill>
          <a:blip r:embed="rId3"/>
          <a:stretch>
            <a:fillRect/>
          </a:stretch>
        </p:blipFill>
        <p:spPr>
          <a:xfrm>
            <a:off x="2537460" y="2217420"/>
            <a:ext cx="777240" cy="777240"/>
          </a:xfrm>
          <a:prstGeom prst="rect">
            <a:avLst/>
          </a:prstGeom>
        </p:spPr>
      </p:pic>
      <p:sp>
        <p:nvSpPr>
          <p:cNvPr id="8" name="Text 4"/>
          <p:cNvSpPr txBox="1"/>
          <p:nvPr/>
        </p:nvSpPr>
        <p:spPr>
          <a:xfrm>
            <a:off x="548640" y="3566160"/>
            <a:ext cx="4754880" cy="822960"/>
          </a:xfrm>
          <a:prstGeom prst="rect">
            <a:avLst/>
          </a:prstGeom>
          <a:noFill/>
          <a:ln/>
        </p:spPr>
        <p:txBody>
          <a:bodyPr wrap="square" lIns="0" tIns="0" rIns="0" bIns="0" rtlCol="0" anchor="ctr"/>
          <a:lstStyle/>
          <a:p>
            <a:pPr marL="0" indent="0" algn="ctr">
              <a:buNone/>
            </a:pPr>
            <a:r>
              <a:rPr lang="en-US" sz="3200" b="1" dirty="0">
                <a:solidFill>
                  <a:srgbClr val="1C2333"/>
                </a:solidFill>
                <a:latin typeface="Calibri" pitchFamily="34" charset="0"/>
                <a:ea typeface="Calibri" pitchFamily="34" charset="-122"/>
                <a:cs typeface="Calibri" pitchFamily="34" charset="-120"/>
              </a:rPr>
              <a:t>PostgreSQL</a:t>
            </a:r>
            <a:endParaRPr lang="en-US" sz="3200" dirty="0"/>
          </a:p>
        </p:txBody>
      </p:sp>
      <p:sp>
        <p:nvSpPr>
          <p:cNvPr id="9" name="Text 5"/>
          <p:cNvSpPr txBox="1"/>
          <p:nvPr/>
        </p:nvSpPr>
        <p:spPr>
          <a:xfrm>
            <a:off x="548640" y="4389120"/>
            <a:ext cx="4754880" cy="1463040"/>
          </a:xfrm>
          <a:prstGeom prst="rect">
            <a:avLst/>
          </a:prstGeom>
          <a:noFill/>
          <a:ln/>
        </p:spPr>
        <p:txBody>
          <a:bodyPr wrap="square" lIns="0" tIns="0" rIns="0" bIns="0" rtlCol="0" anchor="ctr"/>
          <a:lstStyle/>
          <a:p>
            <a:pPr marL="0" indent="0" algn="ctr">
              <a:buNone/>
            </a:pPr>
            <a:r>
              <a:rPr lang="en-US" sz="3000" dirty="0">
                <a:solidFill>
                  <a:srgbClr val="5B6477"/>
                </a:solidFill>
                <a:latin typeface="Calibri" pitchFamily="34" charset="0"/>
                <a:ea typeface="Calibri" pitchFamily="34" charset="-122"/>
                <a:cs typeface="Calibri" pitchFamily="34" charset="-120"/>
              </a:rPr>
              <a:t>хранение</a:t>
            </a:r>
            <a:endParaRPr lang="en-US" sz="3000" dirty="0"/>
          </a:p>
          <a:p>
            <a:pPr marL="0" indent="0" algn="ctr">
              <a:buNone/>
            </a:pPr>
            <a:r>
              <a:rPr lang="en-US" sz="3000" dirty="0">
                <a:solidFill>
                  <a:srgbClr val="5B6477"/>
                </a:solidFill>
                <a:latin typeface="Calibri" pitchFamily="34" charset="0"/>
                <a:ea typeface="Calibri" pitchFamily="34" charset="-122"/>
                <a:cs typeface="Calibri" pitchFamily="34" charset="-120"/>
              </a:rPr>
              <a:t>транзакции</a:t>
            </a:r>
            <a:endParaRPr lang="en-US" sz="3000" dirty="0"/>
          </a:p>
        </p:txBody>
      </p:sp>
      <p:sp>
        <p:nvSpPr>
          <p:cNvPr id="10" name="Shape 6"/>
          <p:cNvSpPr/>
          <p:nvPr/>
        </p:nvSpPr>
        <p:spPr>
          <a:xfrm>
            <a:off x="6858000" y="1554480"/>
            <a:ext cx="4754880" cy="4480560"/>
          </a:xfrm>
          <a:prstGeom prst="roundRect">
            <a:avLst>
              <a:gd name="adj" fmla="val 3061"/>
            </a:avLst>
          </a:prstGeom>
          <a:solidFill>
            <a:srgbClr val="E3F6F4"/>
          </a:solidFill>
          <a:ln w="12700">
            <a:solidFill>
              <a:srgbClr val="E3F6F4"/>
            </a:solidFill>
            <a:prstDash val="solid"/>
          </a:ln>
        </p:spPr>
      </p:sp>
      <p:sp>
        <p:nvSpPr>
          <p:cNvPr id="11" name="Shape 7"/>
          <p:cNvSpPr/>
          <p:nvPr/>
        </p:nvSpPr>
        <p:spPr>
          <a:xfrm>
            <a:off x="8458200" y="1828800"/>
            <a:ext cx="1554480" cy="1554480"/>
          </a:xfrm>
          <a:prstGeom prst="ellipse">
            <a:avLst/>
          </a:prstGeom>
          <a:solidFill>
            <a:srgbClr val="00A79D"/>
          </a:solidFill>
          <a:ln w="12700">
            <a:solidFill>
              <a:srgbClr val="00A79D"/>
            </a:solidFill>
            <a:prstDash val="solid"/>
          </a:ln>
        </p:spPr>
      </p:sp>
      <p:pic>
        <p:nvPicPr>
          <p:cNvPr id="12" name="Image 1" descr="preencoded.png"/>
          <p:cNvPicPr>
            <a:picLocks noChangeAspect="1"/>
          </p:cNvPicPr>
          <p:nvPr/>
        </p:nvPicPr>
        <p:blipFill>
          <a:blip r:embed="rId4"/>
          <a:stretch>
            <a:fillRect/>
          </a:stretch>
        </p:blipFill>
        <p:spPr>
          <a:xfrm>
            <a:off x="8846820" y="2217420"/>
            <a:ext cx="777240" cy="777240"/>
          </a:xfrm>
          <a:prstGeom prst="rect">
            <a:avLst/>
          </a:prstGeom>
        </p:spPr>
      </p:pic>
      <p:sp>
        <p:nvSpPr>
          <p:cNvPr id="13" name="Text 8"/>
          <p:cNvSpPr txBox="1"/>
          <p:nvPr/>
        </p:nvSpPr>
        <p:spPr>
          <a:xfrm>
            <a:off x="6858000" y="3566160"/>
            <a:ext cx="4754880" cy="822960"/>
          </a:xfrm>
          <a:prstGeom prst="rect">
            <a:avLst/>
          </a:prstGeom>
          <a:noFill/>
          <a:ln/>
        </p:spPr>
        <p:txBody>
          <a:bodyPr wrap="square" lIns="0" tIns="0" rIns="0" bIns="0" rtlCol="0" anchor="ctr"/>
          <a:lstStyle/>
          <a:p>
            <a:pPr marL="0" indent="0" algn="ctr">
              <a:buNone/>
            </a:pPr>
            <a:r>
              <a:rPr lang="en-US" sz="3200" b="1" dirty="0">
                <a:solidFill>
                  <a:srgbClr val="1C2333"/>
                </a:solidFill>
                <a:latin typeface="Calibri" pitchFamily="34" charset="0"/>
                <a:ea typeface="Calibri" pitchFamily="34" charset="-122"/>
                <a:cs typeface="Calibri" pitchFamily="34" charset="-120"/>
              </a:rPr>
              <a:t>Elasticsearch</a:t>
            </a:r>
            <a:endParaRPr lang="en-US" sz="3200" dirty="0"/>
          </a:p>
        </p:txBody>
      </p:sp>
      <p:sp>
        <p:nvSpPr>
          <p:cNvPr id="14" name="Text 9"/>
          <p:cNvSpPr txBox="1"/>
          <p:nvPr/>
        </p:nvSpPr>
        <p:spPr>
          <a:xfrm>
            <a:off x="6858000" y="4389120"/>
            <a:ext cx="4754880" cy="1463040"/>
          </a:xfrm>
          <a:prstGeom prst="rect">
            <a:avLst/>
          </a:prstGeom>
          <a:noFill/>
          <a:ln/>
        </p:spPr>
        <p:txBody>
          <a:bodyPr wrap="square" lIns="0" tIns="0" rIns="0" bIns="0" rtlCol="0" anchor="ctr"/>
          <a:lstStyle/>
          <a:p>
            <a:pPr marL="0" indent="0" algn="ctr">
              <a:buNone/>
            </a:pPr>
            <a:r>
              <a:rPr lang="en-US" sz="3000" dirty="0">
                <a:solidFill>
                  <a:srgbClr val="5B6477"/>
                </a:solidFill>
                <a:latin typeface="Calibri" pitchFamily="34" charset="0"/>
                <a:ea typeface="Calibri" pitchFamily="34" charset="-122"/>
                <a:cs typeface="Calibri" pitchFamily="34" charset="-120"/>
              </a:rPr>
              <a:t>поиск</a:t>
            </a:r>
            <a:endParaRPr lang="en-US" sz="3000" dirty="0"/>
          </a:p>
          <a:p>
            <a:pPr marL="0" indent="0" algn="ctr">
              <a:buNone/>
            </a:pPr>
            <a:r>
              <a:rPr lang="en-US" sz="3000" dirty="0">
                <a:solidFill>
                  <a:srgbClr val="5B6477"/>
                </a:solidFill>
                <a:latin typeface="Calibri" pitchFamily="34" charset="0"/>
                <a:ea typeface="Calibri" pitchFamily="34" charset="-122"/>
                <a:cs typeface="Calibri" pitchFamily="34" charset="-120"/>
              </a:rPr>
              <a:t>аналитика</a:t>
            </a:r>
            <a:endParaRPr lang="en-US" sz="3000" dirty="0"/>
          </a:p>
        </p:txBody>
      </p:sp>
      <p:sp>
        <p:nvSpPr>
          <p:cNvPr id="15" name="Shape 10"/>
          <p:cNvSpPr/>
          <p:nvPr/>
        </p:nvSpPr>
        <p:spPr>
          <a:xfrm>
            <a:off x="5486400" y="3291840"/>
            <a:ext cx="1188720" cy="411480"/>
          </a:xfrm>
          <a:prstGeom prst="rightArrow">
            <a:avLst/>
          </a:prstGeom>
          <a:solidFill>
            <a:srgbClr val="FEC514"/>
          </a:solidFill>
          <a:ln w="12700">
            <a:solidFill>
              <a:srgbClr val="FEC514"/>
            </a:solidFill>
            <a:prstDash val="solid"/>
          </a:ln>
        </p:spPr>
      </p:sp>
      <p:pic>
        <p:nvPicPr>
          <p:cNvPr id="16" name="Image 2" descr="preencoded.png"/>
          <p:cNvPicPr>
            <a:picLocks noChangeAspect="1"/>
          </p:cNvPicPr>
          <p:nvPr/>
        </p:nvPicPr>
        <p:blipFill>
          <a:blip r:embed="rId5"/>
          <a:stretch>
            <a:fillRect/>
          </a:stretch>
        </p:blipFill>
        <p:spPr>
          <a:xfrm>
            <a:off x="5806440" y="2468880"/>
            <a:ext cx="548640" cy="548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213F"/>
        </a:solidFill>
        <a:effectLst/>
      </p:bgPr>
    </p:bg>
    <p:spTree>
      <p:nvGrpSpPr>
        <p:cNvPr id="1" name=""/>
        <p:cNvGrpSpPr/>
        <p:nvPr/>
      </p:nvGrpSpPr>
      <p:grpSpPr>
        <a:xfrm>
          <a:off x="0" y="0"/>
          <a:ext cx="0" cy="0"/>
          <a:chOff x="0" y="0"/>
          <a:chExt cx="0" cy="0"/>
        </a:xfrm>
      </p:grpSpPr>
      <p:sp>
        <p:nvSpPr>
          <p:cNvPr id="3" name="Text 0"/>
          <p:cNvSpPr txBox="1"/>
          <p:nvPr/>
        </p:nvSpPr>
        <p:spPr>
          <a:xfrm>
            <a:off x="11247120" y="6309360"/>
            <a:ext cx="640080" cy="365760"/>
          </a:xfrm>
          <a:prstGeom prst="rect">
            <a:avLst/>
          </a:prstGeom>
          <a:noFill/>
          <a:ln/>
        </p:spPr>
        <p:txBody>
          <a:bodyPr wrap="square" lIns="0" tIns="0" rIns="0" bIns="0" rtlCol="0" anchor="ctr"/>
          <a:lstStyle/>
          <a:p>
            <a:pPr marL="0" indent="0" algn="r">
              <a:buNone/>
            </a:pPr>
            <a:r>
              <a:rPr lang="en-US" sz="1400" dirty="0">
                <a:solidFill>
                  <a:srgbClr val="8A93AD"/>
                </a:solidFill>
                <a:latin typeface="Calibri" pitchFamily="34" charset="0"/>
                <a:ea typeface="Calibri" pitchFamily="34" charset="-122"/>
                <a:cs typeface="Calibri" pitchFamily="34" charset="-120"/>
              </a:rPr>
              <a:t>9</a:t>
            </a:r>
            <a:endParaRPr lang="en-US" sz="1400" dirty="0"/>
          </a:p>
        </p:txBody>
      </p:sp>
      <p:sp>
        <p:nvSpPr>
          <p:cNvPr id="4" name="Text 1"/>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Три направления применения</a:t>
            </a:r>
            <a:endParaRPr lang="en-US" sz="4000" dirty="0"/>
          </a:p>
        </p:txBody>
      </p:sp>
      <p:sp>
        <p:nvSpPr>
          <p:cNvPr id="5" name="Shape 2"/>
          <p:cNvSpPr/>
          <p:nvPr/>
        </p:nvSpPr>
        <p:spPr>
          <a:xfrm>
            <a:off x="548640" y="1554480"/>
            <a:ext cx="3474720" cy="4572000"/>
          </a:xfrm>
          <a:prstGeom prst="roundRect">
            <a:avLst>
              <a:gd name="adj" fmla="val 3947"/>
            </a:avLst>
          </a:prstGeom>
          <a:solidFill>
            <a:srgbClr val="223056"/>
          </a:solidFill>
          <a:ln w="12700">
            <a:solidFill>
              <a:srgbClr val="223056"/>
            </a:solidFill>
            <a:prstDash val="solid"/>
          </a:ln>
        </p:spPr>
      </p:sp>
      <p:sp>
        <p:nvSpPr>
          <p:cNvPr id="6" name="Shape 3"/>
          <p:cNvSpPr/>
          <p:nvPr/>
        </p:nvSpPr>
        <p:spPr>
          <a:xfrm>
            <a:off x="1417320" y="1920240"/>
            <a:ext cx="1737360" cy="1737360"/>
          </a:xfrm>
          <a:prstGeom prst="ellipse">
            <a:avLst/>
          </a:prstGeom>
          <a:solidFill>
            <a:srgbClr val="00A79D"/>
          </a:solidFill>
          <a:ln w="12700">
            <a:solidFill>
              <a:srgbClr val="00A79D"/>
            </a:solidFill>
            <a:prstDash val="solid"/>
          </a:ln>
        </p:spPr>
      </p:sp>
      <p:pic>
        <p:nvPicPr>
          <p:cNvPr id="7" name="Image 0" descr="preencoded.png"/>
          <p:cNvPicPr>
            <a:picLocks noChangeAspect="1"/>
          </p:cNvPicPr>
          <p:nvPr/>
        </p:nvPicPr>
        <p:blipFill>
          <a:blip r:embed="rId3"/>
          <a:stretch>
            <a:fillRect/>
          </a:stretch>
        </p:blipFill>
        <p:spPr>
          <a:xfrm>
            <a:off x="1851660" y="2354580"/>
            <a:ext cx="868680" cy="868680"/>
          </a:xfrm>
          <a:prstGeom prst="rect">
            <a:avLst/>
          </a:prstGeom>
        </p:spPr>
      </p:pic>
      <p:sp>
        <p:nvSpPr>
          <p:cNvPr id="8" name="Text 4"/>
          <p:cNvSpPr txBox="1"/>
          <p:nvPr/>
        </p:nvSpPr>
        <p:spPr>
          <a:xfrm>
            <a:off x="548640" y="3931920"/>
            <a:ext cx="3474720" cy="82296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Search</a:t>
            </a:r>
            <a:endParaRPr lang="en-US" sz="3000" dirty="0"/>
          </a:p>
        </p:txBody>
      </p:sp>
      <p:sp>
        <p:nvSpPr>
          <p:cNvPr id="9" name="Text 5"/>
          <p:cNvSpPr txBox="1"/>
          <p:nvPr/>
        </p:nvSpPr>
        <p:spPr>
          <a:xfrm>
            <a:off x="731520" y="4754880"/>
            <a:ext cx="3108960" cy="1097280"/>
          </a:xfrm>
          <a:prstGeom prst="rect">
            <a:avLst/>
          </a:prstGeom>
          <a:noFill/>
          <a:ln/>
        </p:spPr>
        <p:txBody>
          <a:bodyPr wrap="square" lIns="0" tIns="0" rIns="0" bIns="0" rtlCol="0" anchor="ctr"/>
          <a:lstStyle/>
          <a:p>
            <a:pPr marL="0" indent="0" algn="ctr">
              <a:buNone/>
            </a:pPr>
            <a:r>
              <a:rPr lang="en-US" sz="2800" dirty="0">
                <a:solidFill>
                  <a:srgbClr val="CADCFC"/>
                </a:solidFill>
                <a:latin typeface="Calibri" pitchFamily="34" charset="0"/>
                <a:ea typeface="Calibri" pitchFamily="34" charset="-122"/>
                <a:cs typeface="Calibri" pitchFamily="34" charset="-120"/>
              </a:rPr>
              <a:t>поиск на сайтах</a:t>
            </a:r>
            <a:endParaRPr lang="en-US" sz="2800" dirty="0"/>
          </a:p>
        </p:txBody>
      </p:sp>
      <p:sp>
        <p:nvSpPr>
          <p:cNvPr id="10" name="Shape 6"/>
          <p:cNvSpPr/>
          <p:nvPr/>
        </p:nvSpPr>
        <p:spPr>
          <a:xfrm>
            <a:off x="4389120" y="1554480"/>
            <a:ext cx="3474720" cy="4572000"/>
          </a:xfrm>
          <a:prstGeom prst="roundRect">
            <a:avLst>
              <a:gd name="adj" fmla="val 3947"/>
            </a:avLst>
          </a:prstGeom>
          <a:solidFill>
            <a:srgbClr val="223056"/>
          </a:solidFill>
          <a:ln w="12700">
            <a:solidFill>
              <a:srgbClr val="223056"/>
            </a:solidFill>
            <a:prstDash val="solid"/>
          </a:ln>
        </p:spPr>
      </p:sp>
      <p:sp>
        <p:nvSpPr>
          <p:cNvPr id="11" name="Shape 7"/>
          <p:cNvSpPr/>
          <p:nvPr/>
        </p:nvSpPr>
        <p:spPr>
          <a:xfrm>
            <a:off x="5257800" y="1920240"/>
            <a:ext cx="1737360" cy="1737360"/>
          </a:xfrm>
          <a:prstGeom prst="ellipse">
            <a:avLst/>
          </a:prstGeom>
          <a:solidFill>
            <a:srgbClr val="FEC514"/>
          </a:solidFill>
          <a:ln w="12700">
            <a:solidFill>
              <a:srgbClr val="FEC514"/>
            </a:solidFill>
            <a:prstDash val="solid"/>
          </a:ln>
        </p:spPr>
      </p:sp>
      <p:pic>
        <p:nvPicPr>
          <p:cNvPr id="12" name="Image 1" descr="preencoded.png"/>
          <p:cNvPicPr>
            <a:picLocks noChangeAspect="1"/>
          </p:cNvPicPr>
          <p:nvPr/>
        </p:nvPicPr>
        <p:blipFill>
          <a:blip r:embed="rId4"/>
          <a:stretch>
            <a:fillRect/>
          </a:stretch>
        </p:blipFill>
        <p:spPr>
          <a:xfrm>
            <a:off x="5692140" y="2354580"/>
            <a:ext cx="868680" cy="868680"/>
          </a:xfrm>
          <a:prstGeom prst="rect">
            <a:avLst/>
          </a:prstGeom>
        </p:spPr>
      </p:pic>
      <p:sp>
        <p:nvSpPr>
          <p:cNvPr id="13" name="Text 8"/>
          <p:cNvSpPr txBox="1"/>
          <p:nvPr/>
        </p:nvSpPr>
        <p:spPr>
          <a:xfrm>
            <a:off x="4389120" y="3931920"/>
            <a:ext cx="3474720" cy="82296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Observability</a:t>
            </a:r>
            <a:endParaRPr lang="en-US" sz="3000" dirty="0"/>
          </a:p>
        </p:txBody>
      </p:sp>
      <p:sp>
        <p:nvSpPr>
          <p:cNvPr id="14" name="Text 9"/>
          <p:cNvSpPr txBox="1"/>
          <p:nvPr/>
        </p:nvSpPr>
        <p:spPr>
          <a:xfrm>
            <a:off x="4572000" y="4754880"/>
            <a:ext cx="3108960" cy="1097280"/>
          </a:xfrm>
          <a:prstGeom prst="rect">
            <a:avLst/>
          </a:prstGeom>
          <a:noFill/>
          <a:ln/>
        </p:spPr>
        <p:txBody>
          <a:bodyPr wrap="square" lIns="0" tIns="0" rIns="0" bIns="0" rtlCol="0" anchor="ctr"/>
          <a:lstStyle/>
          <a:p>
            <a:pPr marL="0" indent="0" algn="ctr">
              <a:buNone/>
            </a:pPr>
            <a:r>
              <a:rPr lang="en-US" sz="2800" dirty="0">
                <a:solidFill>
                  <a:srgbClr val="CADCFC"/>
                </a:solidFill>
                <a:latin typeface="Calibri" pitchFamily="34" charset="0"/>
                <a:ea typeface="Calibri" pitchFamily="34" charset="-122"/>
                <a:cs typeface="Calibri" pitchFamily="34" charset="-120"/>
              </a:rPr>
              <a:t>логи и мониторинг</a:t>
            </a:r>
            <a:endParaRPr lang="en-US" sz="2800" dirty="0"/>
          </a:p>
        </p:txBody>
      </p:sp>
      <p:sp>
        <p:nvSpPr>
          <p:cNvPr id="15" name="Shape 10"/>
          <p:cNvSpPr/>
          <p:nvPr/>
        </p:nvSpPr>
        <p:spPr>
          <a:xfrm>
            <a:off x="8229600" y="1554480"/>
            <a:ext cx="3474720" cy="4572000"/>
          </a:xfrm>
          <a:prstGeom prst="roundRect">
            <a:avLst>
              <a:gd name="adj" fmla="val 3947"/>
            </a:avLst>
          </a:prstGeom>
          <a:solidFill>
            <a:srgbClr val="223056"/>
          </a:solidFill>
          <a:ln w="12700">
            <a:solidFill>
              <a:srgbClr val="223056"/>
            </a:solidFill>
            <a:prstDash val="solid"/>
          </a:ln>
        </p:spPr>
      </p:sp>
      <p:sp>
        <p:nvSpPr>
          <p:cNvPr id="16" name="Shape 11"/>
          <p:cNvSpPr/>
          <p:nvPr/>
        </p:nvSpPr>
        <p:spPr>
          <a:xfrm>
            <a:off x="9098280" y="1920240"/>
            <a:ext cx="1737360" cy="1737360"/>
          </a:xfrm>
          <a:prstGeom prst="ellipse">
            <a:avLst/>
          </a:prstGeom>
          <a:solidFill>
            <a:srgbClr val="F04E98"/>
          </a:solidFill>
          <a:ln w="12700">
            <a:solidFill>
              <a:srgbClr val="F04E98"/>
            </a:solidFill>
            <a:prstDash val="solid"/>
          </a:ln>
        </p:spPr>
      </p:sp>
      <p:pic>
        <p:nvPicPr>
          <p:cNvPr id="17" name="Image 2" descr="preencoded.png"/>
          <p:cNvPicPr>
            <a:picLocks noChangeAspect="1"/>
          </p:cNvPicPr>
          <p:nvPr/>
        </p:nvPicPr>
        <p:blipFill>
          <a:blip r:embed="rId5"/>
          <a:stretch>
            <a:fillRect/>
          </a:stretch>
        </p:blipFill>
        <p:spPr>
          <a:xfrm>
            <a:off x="9532620" y="2354580"/>
            <a:ext cx="868680" cy="868680"/>
          </a:xfrm>
          <a:prstGeom prst="rect">
            <a:avLst/>
          </a:prstGeom>
        </p:spPr>
      </p:pic>
      <p:sp>
        <p:nvSpPr>
          <p:cNvPr id="18" name="Text 12"/>
          <p:cNvSpPr txBox="1"/>
          <p:nvPr/>
        </p:nvSpPr>
        <p:spPr>
          <a:xfrm>
            <a:off x="8229600" y="3931920"/>
            <a:ext cx="3474720" cy="82296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Security</a:t>
            </a:r>
            <a:endParaRPr lang="en-US" sz="3000" dirty="0"/>
          </a:p>
        </p:txBody>
      </p:sp>
      <p:sp>
        <p:nvSpPr>
          <p:cNvPr id="19" name="Text 13"/>
          <p:cNvSpPr txBox="1"/>
          <p:nvPr/>
        </p:nvSpPr>
        <p:spPr>
          <a:xfrm>
            <a:off x="8412480" y="4754880"/>
            <a:ext cx="3108960" cy="1097280"/>
          </a:xfrm>
          <a:prstGeom prst="rect">
            <a:avLst/>
          </a:prstGeom>
          <a:noFill/>
          <a:ln/>
        </p:spPr>
        <p:txBody>
          <a:bodyPr wrap="square" lIns="0" tIns="0" rIns="0" bIns="0" rtlCol="0" anchor="ctr"/>
          <a:lstStyle/>
          <a:p>
            <a:pPr marL="0" indent="0" algn="ctr">
              <a:buNone/>
            </a:pPr>
            <a:r>
              <a:rPr lang="en-US" sz="2800" dirty="0">
                <a:solidFill>
                  <a:srgbClr val="CADCFC"/>
                </a:solidFill>
                <a:latin typeface="Calibri" pitchFamily="34" charset="0"/>
                <a:ea typeface="Calibri" pitchFamily="34" charset="-122"/>
                <a:cs typeface="Calibri" pitchFamily="34" charset="-120"/>
              </a:rPr>
              <a:t>защита от атак</a:t>
            </a:r>
            <a:endParaRPr lang="en-US"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11247120" y="6309360"/>
            <a:ext cx="640080" cy="365760"/>
          </a:xfrm>
          <a:prstGeom prst="rect">
            <a:avLst/>
          </a:prstGeom>
          <a:noFill/>
          <a:ln/>
        </p:spPr>
        <p:txBody>
          <a:bodyPr wrap="square" lIns="0" tIns="0" rIns="0" bIns="0" rtlCol="0" anchor="ctr"/>
          <a:lstStyle/>
          <a:p>
            <a:pPr marL="0" indent="0" algn="r">
              <a:buNone/>
            </a:pPr>
            <a:r>
              <a:rPr lang="en-US" sz="1400" dirty="0">
                <a:solidFill>
                  <a:srgbClr val="8A93AD"/>
                </a:solidFill>
                <a:latin typeface="Calibri" pitchFamily="34" charset="0"/>
                <a:ea typeface="Calibri" pitchFamily="34" charset="-122"/>
                <a:cs typeface="Calibri" pitchFamily="34" charset="-120"/>
              </a:rPr>
              <a:t>10</a:t>
            </a:r>
            <a:endParaRPr lang="en-US" sz="1400" dirty="0"/>
          </a:p>
        </p:txBody>
      </p:sp>
      <p:sp>
        <p:nvSpPr>
          <p:cNvPr id="4" name="Text 1"/>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4000" b="1" dirty="0">
                <a:solidFill>
                  <a:srgbClr val="15213F"/>
                </a:solidFill>
                <a:latin typeface="Arial" pitchFamily="34" charset="0"/>
                <a:ea typeface="Arial" pitchFamily="34" charset="-122"/>
                <a:cs typeface="Arial" pitchFamily="34" charset="-120"/>
              </a:rPr>
              <a:t>Пример 1: поиск в интернет-магазине</a:t>
            </a:r>
            <a:endParaRPr lang="en-US" sz="4000" dirty="0"/>
          </a:p>
        </p:txBody>
      </p:sp>
      <p:sp>
        <p:nvSpPr>
          <p:cNvPr id="5" name="Shape 2"/>
          <p:cNvSpPr/>
          <p:nvPr/>
        </p:nvSpPr>
        <p:spPr>
          <a:xfrm>
            <a:off x="548640" y="1554480"/>
            <a:ext cx="5303520" cy="914400"/>
          </a:xfrm>
          <a:prstGeom prst="roundRect">
            <a:avLst>
              <a:gd name="adj" fmla="val 50000"/>
            </a:avLst>
          </a:prstGeom>
          <a:solidFill>
            <a:srgbClr val="FFFFFF"/>
          </a:solidFill>
          <a:ln w="31750">
            <a:solidFill>
              <a:srgbClr val="0B64DD"/>
            </a:solidFill>
            <a:prstDash val="solid"/>
          </a:ln>
        </p:spPr>
      </p:sp>
      <p:pic>
        <p:nvPicPr>
          <p:cNvPr id="6" name="Image 0" descr="preencoded.png"/>
          <p:cNvPicPr>
            <a:picLocks noChangeAspect="1"/>
          </p:cNvPicPr>
          <p:nvPr/>
        </p:nvPicPr>
        <p:blipFill>
          <a:blip r:embed="rId3"/>
          <a:stretch>
            <a:fillRect/>
          </a:stretch>
        </p:blipFill>
        <p:spPr>
          <a:xfrm>
            <a:off x="822960" y="1783080"/>
            <a:ext cx="457200" cy="457200"/>
          </a:xfrm>
          <a:prstGeom prst="rect">
            <a:avLst/>
          </a:prstGeom>
        </p:spPr>
      </p:pic>
      <p:sp>
        <p:nvSpPr>
          <p:cNvPr id="7" name="Text 3"/>
          <p:cNvSpPr txBox="1"/>
          <p:nvPr/>
        </p:nvSpPr>
        <p:spPr>
          <a:xfrm>
            <a:off x="1463040" y="1554480"/>
            <a:ext cx="4206240" cy="914400"/>
          </a:xfrm>
          <a:prstGeom prst="rect">
            <a:avLst/>
          </a:prstGeom>
          <a:noFill/>
          <a:ln/>
        </p:spPr>
        <p:txBody>
          <a:bodyPr wrap="square" lIns="0" tIns="0" rIns="0" bIns="0" rtlCol="0" anchor="ctr"/>
          <a:lstStyle/>
          <a:p>
            <a:pPr marL="0" indent="0">
              <a:buNone/>
            </a:pPr>
            <a:r>
              <a:rPr lang="en-US" sz="3000" dirty="0">
                <a:solidFill>
                  <a:srgbClr val="1C2333"/>
                </a:solidFill>
                <a:latin typeface="Calibri" pitchFamily="34" charset="0"/>
                <a:ea typeface="Calibri" pitchFamily="34" charset="-122"/>
                <a:cs typeface="Calibri" pitchFamily="34" charset="-120"/>
              </a:rPr>
              <a:t>красные кросовки</a:t>
            </a:r>
            <a:endParaRPr lang="en-US" sz="3000" dirty="0"/>
          </a:p>
        </p:txBody>
      </p:sp>
      <p:sp>
        <p:nvSpPr>
          <p:cNvPr id="8" name="Shape 4"/>
          <p:cNvSpPr/>
          <p:nvPr/>
        </p:nvSpPr>
        <p:spPr>
          <a:xfrm>
            <a:off x="2103120" y="3017520"/>
            <a:ext cx="2194560" cy="2194560"/>
          </a:xfrm>
          <a:prstGeom prst="ellipse">
            <a:avLst/>
          </a:prstGeom>
          <a:solidFill>
            <a:srgbClr val="E6E9EF"/>
          </a:solidFill>
          <a:ln w="12700">
            <a:solidFill>
              <a:srgbClr val="E6E9EF"/>
            </a:solidFill>
            <a:prstDash val="solid"/>
          </a:ln>
        </p:spPr>
      </p:sp>
      <p:pic>
        <p:nvPicPr>
          <p:cNvPr id="9" name="Image 1" descr="preencoded.png"/>
          <p:cNvPicPr>
            <a:picLocks noChangeAspect="1"/>
          </p:cNvPicPr>
          <p:nvPr/>
        </p:nvPicPr>
        <p:blipFill>
          <a:blip r:embed="rId4"/>
          <a:stretch>
            <a:fillRect/>
          </a:stretch>
        </p:blipFill>
        <p:spPr>
          <a:xfrm>
            <a:off x="2651760" y="3566160"/>
            <a:ext cx="1097280" cy="1097280"/>
          </a:xfrm>
          <a:prstGeom prst="rect">
            <a:avLst/>
          </a:prstGeom>
        </p:spPr>
      </p:pic>
      <p:sp>
        <p:nvSpPr>
          <p:cNvPr id="10" name="Text 5"/>
          <p:cNvSpPr txBox="1"/>
          <p:nvPr/>
        </p:nvSpPr>
        <p:spPr>
          <a:xfrm>
            <a:off x="548640" y="5486400"/>
            <a:ext cx="5303520" cy="731520"/>
          </a:xfrm>
          <a:prstGeom prst="rect">
            <a:avLst/>
          </a:prstGeom>
          <a:noFill/>
          <a:ln/>
        </p:spPr>
        <p:txBody>
          <a:bodyPr wrap="square" lIns="0" tIns="0" rIns="0" bIns="0" rtlCol="0" anchor="ctr"/>
          <a:lstStyle/>
          <a:p>
            <a:pPr marL="0" indent="0" algn="ctr">
              <a:buNone/>
            </a:pPr>
            <a:r>
              <a:rPr lang="en-US" sz="3000" dirty="0">
                <a:solidFill>
                  <a:srgbClr val="5B6477"/>
                </a:solidFill>
                <a:latin typeface="Calibri" pitchFamily="34" charset="0"/>
                <a:ea typeface="Calibri" pitchFamily="34" charset="-122"/>
                <a:cs typeface="Calibri" pitchFamily="34" charset="-120"/>
              </a:rPr>
              <a:t>размер 42 · до 10 000 ₽</a:t>
            </a:r>
            <a:endParaRPr lang="en-US" sz="3000" dirty="0"/>
          </a:p>
        </p:txBody>
      </p:sp>
      <p:sp>
        <p:nvSpPr>
          <p:cNvPr id="11" name="Shape 6"/>
          <p:cNvSpPr/>
          <p:nvPr/>
        </p:nvSpPr>
        <p:spPr>
          <a:xfrm>
            <a:off x="6400800" y="1554480"/>
            <a:ext cx="5212080" cy="1371600"/>
          </a:xfrm>
          <a:prstGeom prst="roundRect">
            <a:avLst>
              <a:gd name="adj" fmla="val 10000"/>
            </a:avLst>
          </a:prstGeom>
          <a:solidFill>
            <a:srgbClr val="F3F6FA"/>
          </a:solidFill>
          <a:ln w="12700">
            <a:solidFill>
              <a:srgbClr val="F3F6FA"/>
            </a:solidFill>
            <a:prstDash val="solid"/>
          </a:ln>
        </p:spPr>
      </p:sp>
      <p:sp>
        <p:nvSpPr>
          <p:cNvPr id="12" name="Shape 7"/>
          <p:cNvSpPr/>
          <p:nvPr/>
        </p:nvSpPr>
        <p:spPr>
          <a:xfrm>
            <a:off x="6583680" y="1783080"/>
            <a:ext cx="2194560" cy="914400"/>
          </a:xfrm>
          <a:prstGeom prst="roundRect">
            <a:avLst>
              <a:gd name="adj" fmla="val 12000"/>
            </a:avLst>
          </a:prstGeom>
          <a:solidFill>
            <a:srgbClr val="00A79D"/>
          </a:solidFill>
          <a:ln w="12700">
            <a:solidFill>
              <a:srgbClr val="00A79D"/>
            </a:solidFill>
            <a:prstDash val="solid"/>
          </a:ln>
        </p:spPr>
      </p:sp>
      <p:sp>
        <p:nvSpPr>
          <p:cNvPr id="13" name="Text 8"/>
          <p:cNvSpPr txBox="1"/>
          <p:nvPr/>
        </p:nvSpPr>
        <p:spPr>
          <a:xfrm>
            <a:off x="6583680" y="1783080"/>
            <a:ext cx="2194560" cy="914400"/>
          </a:xfrm>
          <a:prstGeom prst="rect">
            <a:avLst/>
          </a:prstGeom>
          <a:noFill/>
          <a:ln/>
        </p:spPr>
        <p:txBody>
          <a:bodyPr wrap="square" lIns="0" tIns="0" rIns="0" bIns="0" rtlCol="0" anchor="ctr"/>
          <a:lstStyle/>
          <a:p>
            <a:pPr marL="0" indent="0" algn="ctr">
              <a:buNone/>
            </a:pPr>
            <a:r>
              <a:rPr lang="en-US" sz="2600" b="1" dirty="0">
                <a:solidFill>
                  <a:srgbClr val="FFFFFF"/>
                </a:solidFill>
                <a:latin typeface="Courier New" pitchFamily="34" charset="0"/>
                <a:ea typeface="Courier New" pitchFamily="34" charset="-122"/>
                <a:cs typeface="Courier New" pitchFamily="34" charset="-120"/>
              </a:rPr>
              <a:t>fuzziness</a:t>
            </a:r>
            <a:endParaRPr lang="en-US" sz="2600" dirty="0"/>
          </a:p>
        </p:txBody>
      </p:sp>
      <p:sp>
        <p:nvSpPr>
          <p:cNvPr id="14" name="Text 9"/>
          <p:cNvSpPr txBox="1"/>
          <p:nvPr/>
        </p:nvSpPr>
        <p:spPr>
          <a:xfrm>
            <a:off x="8961120" y="1554480"/>
            <a:ext cx="2560320" cy="1371600"/>
          </a:xfrm>
          <a:prstGeom prst="rect">
            <a:avLst/>
          </a:prstGeom>
          <a:noFill/>
          <a:ln/>
        </p:spPr>
        <p:txBody>
          <a:bodyPr wrap="square" lIns="0" tIns="0" rIns="0" bIns="0" rtlCol="0" anchor="ctr"/>
          <a:lstStyle/>
          <a:p>
            <a:pPr marL="0" indent="0">
              <a:buNone/>
            </a:pPr>
            <a:r>
              <a:rPr lang="en-US" sz="2800" dirty="0">
                <a:solidFill>
                  <a:srgbClr val="1C2333"/>
                </a:solidFill>
                <a:latin typeface="Calibri" pitchFamily="34" charset="0"/>
                <a:ea typeface="Calibri" pitchFamily="34" charset="-122"/>
                <a:cs typeface="Calibri" pitchFamily="34" charset="-120"/>
              </a:rPr>
              <a:t>исправит опечатку</a:t>
            </a:r>
            <a:endParaRPr lang="en-US" sz="2800" dirty="0"/>
          </a:p>
        </p:txBody>
      </p:sp>
      <p:sp>
        <p:nvSpPr>
          <p:cNvPr id="15" name="Shape 10"/>
          <p:cNvSpPr/>
          <p:nvPr/>
        </p:nvSpPr>
        <p:spPr>
          <a:xfrm>
            <a:off x="6400800" y="3154680"/>
            <a:ext cx="5212080" cy="1371600"/>
          </a:xfrm>
          <a:prstGeom prst="roundRect">
            <a:avLst>
              <a:gd name="adj" fmla="val 10000"/>
            </a:avLst>
          </a:prstGeom>
          <a:solidFill>
            <a:srgbClr val="F3F6FA"/>
          </a:solidFill>
          <a:ln w="12700">
            <a:solidFill>
              <a:srgbClr val="F3F6FA"/>
            </a:solidFill>
            <a:prstDash val="solid"/>
          </a:ln>
        </p:spPr>
      </p:sp>
      <p:sp>
        <p:nvSpPr>
          <p:cNvPr id="16" name="Shape 11"/>
          <p:cNvSpPr/>
          <p:nvPr/>
        </p:nvSpPr>
        <p:spPr>
          <a:xfrm>
            <a:off x="6583680" y="3383280"/>
            <a:ext cx="2194560" cy="914400"/>
          </a:xfrm>
          <a:prstGeom prst="roundRect">
            <a:avLst>
              <a:gd name="adj" fmla="val 12000"/>
            </a:avLst>
          </a:prstGeom>
          <a:solidFill>
            <a:srgbClr val="0B64DD"/>
          </a:solidFill>
          <a:ln w="12700">
            <a:solidFill>
              <a:srgbClr val="0B64DD"/>
            </a:solidFill>
            <a:prstDash val="solid"/>
          </a:ln>
        </p:spPr>
      </p:sp>
      <p:sp>
        <p:nvSpPr>
          <p:cNvPr id="17" name="Text 12"/>
          <p:cNvSpPr txBox="1"/>
          <p:nvPr/>
        </p:nvSpPr>
        <p:spPr>
          <a:xfrm>
            <a:off x="6583680" y="3383280"/>
            <a:ext cx="2194560" cy="914400"/>
          </a:xfrm>
          <a:prstGeom prst="rect">
            <a:avLst/>
          </a:prstGeom>
          <a:noFill/>
          <a:ln/>
        </p:spPr>
        <p:txBody>
          <a:bodyPr wrap="square" lIns="0" tIns="0" rIns="0" bIns="0" rtlCol="0" anchor="ctr"/>
          <a:lstStyle/>
          <a:p>
            <a:pPr marL="0" indent="0" algn="ctr">
              <a:buNone/>
            </a:pPr>
            <a:r>
              <a:rPr lang="en-US" sz="2600" b="1" dirty="0">
                <a:solidFill>
                  <a:srgbClr val="FFFFFF"/>
                </a:solidFill>
                <a:latin typeface="Courier New" pitchFamily="34" charset="0"/>
                <a:ea typeface="Courier New" pitchFamily="34" charset="-122"/>
                <a:cs typeface="Courier New" pitchFamily="34" charset="-120"/>
              </a:rPr>
              <a:t>filter</a:t>
            </a:r>
            <a:endParaRPr lang="en-US" sz="2600" dirty="0"/>
          </a:p>
        </p:txBody>
      </p:sp>
      <p:sp>
        <p:nvSpPr>
          <p:cNvPr id="18" name="Text 13"/>
          <p:cNvSpPr txBox="1"/>
          <p:nvPr/>
        </p:nvSpPr>
        <p:spPr>
          <a:xfrm>
            <a:off x="8961120" y="3154680"/>
            <a:ext cx="2560320" cy="1371600"/>
          </a:xfrm>
          <a:prstGeom prst="rect">
            <a:avLst/>
          </a:prstGeom>
          <a:noFill/>
          <a:ln/>
        </p:spPr>
        <p:txBody>
          <a:bodyPr wrap="square" lIns="0" tIns="0" rIns="0" bIns="0" rtlCol="0" anchor="ctr"/>
          <a:lstStyle/>
          <a:p>
            <a:pPr marL="0" indent="0">
              <a:buNone/>
            </a:pPr>
            <a:r>
              <a:rPr lang="en-US" sz="2800" dirty="0">
                <a:solidFill>
                  <a:srgbClr val="1C2333"/>
                </a:solidFill>
                <a:latin typeface="Calibri" pitchFamily="34" charset="0"/>
                <a:ea typeface="Calibri" pitchFamily="34" charset="-122"/>
                <a:cs typeface="Calibri" pitchFamily="34" charset="-120"/>
              </a:rPr>
              <a:t>размер и цена</a:t>
            </a:r>
            <a:endParaRPr lang="en-US" sz="2800" dirty="0"/>
          </a:p>
        </p:txBody>
      </p:sp>
      <p:sp>
        <p:nvSpPr>
          <p:cNvPr id="19" name="Shape 14"/>
          <p:cNvSpPr/>
          <p:nvPr/>
        </p:nvSpPr>
        <p:spPr>
          <a:xfrm>
            <a:off x="6400800" y="4754880"/>
            <a:ext cx="5212080" cy="1371600"/>
          </a:xfrm>
          <a:prstGeom prst="roundRect">
            <a:avLst>
              <a:gd name="adj" fmla="val 10000"/>
            </a:avLst>
          </a:prstGeom>
          <a:solidFill>
            <a:srgbClr val="F3F6FA"/>
          </a:solidFill>
          <a:ln w="12700">
            <a:solidFill>
              <a:srgbClr val="F3F6FA"/>
            </a:solidFill>
            <a:prstDash val="solid"/>
          </a:ln>
        </p:spPr>
      </p:sp>
      <p:sp>
        <p:nvSpPr>
          <p:cNvPr id="20" name="Shape 15"/>
          <p:cNvSpPr/>
          <p:nvPr/>
        </p:nvSpPr>
        <p:spPr>
          <a:xfrm>
            <a:off x="6583680" y="4983480"/>
            <a:ext cx="2194560" cy="914400"/>
          </a:xfrm>
          <a:prstGeom prst="roundRect">
            <a:avLst>
              <a:gd name="adj" fmla="val 12000"/>
            </a:avLst>
          </a:prstGeom>
          <a:solidFill>
            <a:srgbClr val="F04E98"/>
          </a:solidFill>
          <a:ln w="12700">
            <a:solidFill>
              <a:srgbClr val="F04E98"/>
            </a:solidFill>
            <a:prstDash val="solid"/>
          </a:ln>
        </p:spPr>
      </p:sp>
      <p:sp>
        <p:nvSpPr>
          <p:cNvPr id="21" name="Text 16"/>
          <p:cNvSpPr txBox="1"/>
          <p:nvPr/>
        </p:nvSpPr>
        <p:spPr>
          <a:xfrm>
            <a:off x="6583680" y="4983480"/>
            <a:ext cx="2194560" cy="914400"/>
          </a:xfrm>
          <a:prstGeom prst="rect">
            <a:avLst/>
          </a:prstGeom>
          <a:noFill/>
          <a:ln/>
        </p:spPr>
        <p:txBody>
          <a:bodyPr wrap="square" lIns="0" tIns="0" rIns="0" bIns="0" rtlCol="0" anchor="ctr"/>
          <a:lstStyle/>
          <a:p>
            <a:pPr marL="0" indent="0" algn="ctr">
              <a:buNone/>
            </a:pPr>
            <a:r>
              <a:rPr lang="en-US" sz="2600" b="1" dirty="0">
                <a:solidFill>
                  <a:srgbClr val="FFFFFF"/>
                </a:solidFill>
                <a:latin typeface="Courier New" pitchFamily="34" charset="0"/>
                <a:ea typeface="Courier New" pitchFamily="34" charset="-122"/>
                <a:cs typeface="Courier New" pitchFamily="34" charset="-120"/>
              </a:rPr>
              <a:t>aggs</a:t>
            </a:r>
            <a:endParaRPr lang="en-US" sz="2600" dirty="0"/>
          </a:p>
        </p:txBody>
      </p:sp>
      <p:sp>
        <p:nvSpPr>
          <p:cNvPr id="22" name="Text 17"/>
          <p:cNvSpPr txBox="1"/>
          <p:nvPr/>
        </p:nvSpPr>
        <p:spPr>
          <a:xfrm>
            <a:off x="8961120" y="4754880"/>
            <a:ext cx="2560320" cy="1371600"/>
          </a:xfrm>
          <a:prstGeom prst="rect">
            <a:avLst/>
          </a:prstGeom>
          <a:noFill/>
          <a:ln/>
        </p:spPr>
        <p:txBody>
          <a:bodyPr wrap="square" lIns="0" tIns="0" rIns="0" bIns="0" rtlCol="0" anchor="ctr"/>
          <a:lstStyle/>
          <a:p>
            <a:pPr marL="0" indent="0">
              <a:buNone/>
            </a:pPr>
            <a:r>
              <a:rPr lang="en-US" sz="2800" dirty="0">
                <a:solidFill>
                  <a:srgbClr val="1C2333"/>
                </a:solidFill>
                <a:latin typeface="Calibri" pitchFamily="34" charset="0"/>
                <a:ea typeface="Calibri" pitchFamily="34" charset="-122"/>
                <a:cs typeface="Calibri" pitchFamily="34" charset="-120"/>
              </a:rPr>
              <a:t>счёт по брендам</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11247120" y="6309360"/>
            <a:ext cx="640080" cy="365760"/>
          </a:xfrm>
          <a:prstGeom prst="rect">
            <a:avLst/>
          </a:prstGeom>
          <a:noFill/>
          <a:ln/>
        </p:spPr>
        <p:txBody>
          <a:bodyPr wrap="square" lIns="0" tIns="0" rIns="0" bIns="0" rtlCol="0" anchor="ctr"/>
          <a:lstStyle/>
          <a:p>
            <a:pPr marL="0" indent="0" algn="r">
              <a:buNone/>
            </a:pPr>
            <a:r>
              <a:rPr lang="en-US" sz="1400" dirty="0">
                <a:solidFill>
                  <a:srgbClr val="8A93AD"/>
                </a:solidFill>
                <a:latin typeface="Calibri" pitchFamily="34" charset="0"/>
                <a:ea typeface="Calibri" pitchFamily="34" charset="-122"/>
                <a:cs typeface="Calibri" pitchFamily="34" charset="-120"/>
              </a:rPr>
              <a:t>11</a:t>
            </a:r>
            <a:endParaRPr lang="en-US" sz="1400" dirty="0"/>
          </a:p>
        </p:txBody>
      </p:sp>
      <p:sp>
        <p:nvSpPr>
          <p:cNvPr id="4" name="Text 1"/>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4000" b="1" dirty="0">
                <a:solidFill>
                  <a:srgbClr val="15213F"/>
                </a:solidFill>
                <a:latin typeface="Arial" pitchFamily="34" charset="0"/>
                <a:ea typeface="Arial" pitchFamily="34" charset="-122"/>
                <a:cs typeface="Arial" pitchFamily="34" charset="-120"/>
              </a:rPr>
              <a:t>Пример 1: что видит покупатель</a:t>
            </a:r>
            <a:endParaRPr lang="en-US" sz="4000" dirty="0"/>
          </a:p>
        </p:txBody>
      </p:sp>
      <p:sp>
        <p:nvSpPr>
          <p:cNvPr id="5" name="Shape 2"/>
          <p:cNvSpPr/>
          <p:nvPr/>
        </p:nvSpPr>
        <p:spPr>
          <a:xfrm>
            <a:off x="548640" y="1463040"/>
            <a:ext cx="3291840" cy="4846320"/>
          </a:xfrm>
          <a:prstGeom prst="roundRect">
            <a:avLst>
              <a:gd name="adj" fmla="val 4167"/>
            </a:avLst>
          </a:prstGeom>
          <a:solidFill>
            <a:srgbClr val="F3F6FA"/>
          </a:solidFill>
          <a:ln w="12700">
            <a:solidFill>
              <a:srgbClr val="F3F6FA"/>
            </a:solidFill>
            <a:prstDash val="solid"/>
          </a:ln>
        </p:spPr>
      </p:sp>
      <p:sp>
        <p:nvSpPr>
          <p:cNvPr id="6" name="Text 3"/>
          <p:cNvSpPr txBox="1"/>
          <p:nvPr/>
        </p:nvSpPr>
        <p:spPr>
          <a:xfrm>
            <a:off x="777240" y="1600200"/>
            <a:ext cx="2926080" cy="640080"/>
          </a:xfrm>
          <a:prstGeom prst="rect">
            <a:avLst/>
          </a:prstGeom>
          <a:noFill/>
          <a:ln/>
        </p:spPr>
        <p:txBody>
          <a:bodyPr wrap="square" lIns="0" tIns="0" rIns="0" bIns="0" rtlCol="0" anchor="ctr"/>
          <a:lstStyle/>
          <a:p>
            <a:pPr marL="0" indent="0">
              <a:buNone/>
            </a:pPr>
            <a:r>
              <a:rPr lang="en-US" sz="3000" b="1" dirty="0">
                <a:solidFill>
                  <a:srgbClr val="1C2333"/>
                </a:solidFill>
                <a:latin typeface="Calibri" pitchFamily="34" charset="0"/>
                <a:ea typeface="Calibri" pitchFamily="34" charset="-122"/>
                <a:cs typeface="Calibri" pitchFamily="34" charset="-120"/>
              </a:rPr>
              <a:t>Бренд</a:t>
            </a:r>
            <a:endParaRPr lang="en-US" sz="3000" dirty="0"/>
          </a:p>
        </p:txBody>
      </p:sp>
      <p:sp>
        <p:nvSpPr>
          <p:cNvPr id="7" name="Shape 4"/>
          <p:cNvSpPr/>
          <p:nvPr/>
        </p:nvSpPr>
        <p:spPr>
          <a:xfrm>
            <a:off x="822960" y="2560320"/>
            <a:ext cx="365760" cy="365760"/>
          </a:xfrm>
          <a:prstGeom prst="rect">
            <a:avLst/>
          </a:prstGeom>
          <a:solidFill>
            <a:srgbClr val="00A79D"/>
          </a:solidFill>
          <a:ln w="25400">
            <a:solidFill>
              <a:srgbClr val="00A79D"/>
            </a:solidFill>
            <a:prstDash val="solid"/>
          </a:ln>
        </p:spPr>
      </p:sp>
      <p:sp>
        <p:nvSpPr>
          <p:cNvPr id="8" name="Text 5"/>
          <p:cNvSpPr txBox="1"/>
          <p:nvPr/>
        </p:nvSpPr>
        <p:spPr>
          <a:xfrm>
            <a:off x="1371600" y="2377440"/>
            <a:ext cx="2377440" cy="731520"/>
          </a:xfrm>
          <a:prstGeom prst="rect">
            <a:avLst/>
          </a:prstGeom>
          <a:noFill/>
          <a:ln/>
        </p:spPr>
        <p:txBody>
          <a:bodyPr wrap="square" lIns="0" tIns="0" rIns="0" bIns="0" rtlCol="0" anchor="ctr"/>
          <a:lstStyle/>
          <a:p>
            <a:pPr marL="0" indent="0">
              <a:buNone/>
            </a:pPr>
            <a:r>
              <a:rPr lang="en-US" sz="2800" dirty="0">
                <a:solidFill>
                  <a:srgbClr val="1C2333"/>
                </a:solidFill>
                <a:latin typeface="Calibri" pitchFamily="34" charset="0"/>
                <a:ea typeface="Calibri" pitchFamily="34" charset="-122"/>
                <a:cs typeface="Calibri" pitchFamily="34" charset="-120"/>
              </a:rPr>
              <a:t>Nike (12)</a:t>
            </a:r>
            <a:endParaRPr lang="en-US" sz="2800" dirty="0"/>
          </a:p>
        </p:txBody>
      </p:sp>
      <p:sp>
        <p:nvSpPr>
          <p:cNvPr id="9" name="Shape 6"/>
          <p:cNvSpPr/>
          <p:nvPr/>
        </p:nvSpPr>
        <p:spPr>
          <a:xfrm>
            <a:off x="822960" y="3383280"/>
            <a:ext cx="365760" cy="365760"/>
          </a:xfrm>
          <a:prstGeom prst="rect">
            <a:avLst/>
          </a:prstGeom>
          <a:solidFill>
            <a:srgbClr val="FFFFFF"/>
          </a:solidFill>
          <a:ln w="25400">
            <a:solidFill>
              <a:srgbClr val="00A79D"/>
            </a:solidFill>
            <a:prstDash val="solid"/>
          </a:ln>
        </p:spPr>
      </p:sp>
      <p:sp>
        <p:nvSpPr>
          <p:cNvPr id="10" name="Text 7"/>
          <p:cNvSpPr txBox="1"/>
          <p:nvPr/>
        </p:nvSpPr>
        <p:spPr>
          <a:xfrm>
            <a:off x="1371600" y="3200400"/>
            <a:ext cx="2377440" cy="731520"/>
          </a:xfrm>
          <a:prstGeom prst="rect">
            <a:avLst/>
          </a:prstGeom>
          <a:noFill/>
          <a:ln/>
        </p:spPr>
        <p:txBody>
          <a:bodyPr wrap="square" lIns="0" tIns="0" rIns="0" bIns="0" rtlCol="0" anchor="ctr"/>
          <a:lstStyle/>
          <a:p>
            <a:pPr marL="0" indent="0">
              <a:buNone/>
            </a:pPr>
            <a:r>
              <a:rPr lang="en-US" sz="2800" dirty="0">
                <a:solidFill>
                  <a:srgbClr val="1C2333"/>
                </a:solidFill>
                <a:latin typeface="Calibri" pitchFamily="34" charset="0"/>
                <a:ea typeface="Calibri" pitchFamily="34" charset="-122"/>
                <a:cs typeface="Calibri" pitchFamily="34" charset="-120"/>
              </a:rPr>
              <a:t>Adidas (8)</a:t>
            </a:r>
            <a:endParaRPr lang="en-US" sz="2800" dirty="0"/>
          </a:p>
        </p:txBody>
      </p:sp>
      <p:sp>
        <p:nvSpPr>
          <p:cNvPr id="11" name="Shape 8"/>
          <p:cNvSpPr/>
          <p:nvPr/>
        </p:nvSpPr>
        <p:spPr>
          <a:xfrm>
            <a:off x="822960" y="4206240"/>
            <a:ext cx="365760" cy="365760"/>
          </a:xfrm>
          <a:prstGeom prst="rect">
            <a:avLst/>
          </a:prstGeom>
          <a:solidFill>
            <a:srgbClr val="FFFFFF"/>
          </a:solidFill>
          <a:ln w="25400">
            <a:solidFill>
              <a:srgbClr val="00A79D"/>
            </a:solidFill>
            <a:prstDash val="solid"/>
          </a:ln>
        </p:spPr>
      </p:sp>
      <p:sp>
        <p:nvSpPr>
          <p:cNvPr id="12" name="Text 9"/>
          <p:cNvSpPr txBox="1"/>
          <p:nvPr/>
        </p:nvSpPr>
        <p:spPr>
          <a:xfrm>
            <a:off x="1371600" y="4023360"/>
            <a:ext cx="2377440" cy="731520"/>
          </a:xfrm>
          <a:prstGeom prst="rect">
            <a:avLst/>
          </a:prstGeom>
          <a:noFill/>
          <a:ln/>
        </p:spPr>
        <p:txBody>
          <a:bodyPr wrap="square" lIns="0" tIns="0" rIns="0" bIns="0" rtlCol="0" anchor="ctr"/>
          <a:lstStyle/>
          <a:p>
            <a:pPr marL="0" indent="0">
              <a:buNone/>
            </a:pPr>
            <a:r>
              <a:rPr lang="en-US" sz="2800" dirty="0">
                <a:solidFill>
                  <a:srgbClr val="1C2333"/>
                </a:solidFill>
                <a:latin typeface="Calibri" pitchFamily="34" charset="0"/>
                <a:ea typeface="Calibri" pitchFamily="34" charset="-122"/>
                <a:cs typeface="Calibri" pitchFamily="34" charset="-120"/>
              </a:rPr>
              <a:t>Puma (5)</a:t>
            </a:r>
            <a:endParaRPr lang="en-US" sz="2800" dirty="0"/>
          </a:p>
        </p:txBody>
      </p:sp>
      <p:sp>
        <p:nvSpPr>
          <p:cNvPr id="13" name="Text 10"/>
          <p:cNvSpPr txBox="1"/>
          <p:nvPr/>
        </p:nvSpPr>
        <p:spPr>
          <a:xfrm>
            <a:off x="548640" y="5120640"/>
            <a:ext cx="3291840" cy="731520"/>
          </a:xfrm>
          <a:prstGeom prst="rect">
            <a:avLst/>
          </a:prstGeom>
          <a:noFill/>
          <a:ln/>
        </p:spPr>
        <p:txBody>
          <a:bodyPr wrap="square" lIns="0" tIns="0" rIns="0" bIns="0" rtlCol="0" anchor="ctr"/>
          <a:lstStyle/>
          <a:p>
            <a:pPr marL="0" indent="0" algn="ctr">
              <a:buNone/>
            </a:pPr>
            <a:r>
              <a:rPr lang="en-US" sz="3000" i="1" dirty="0">
                <a:solidFill>
                  <a:srgbClr val="00A79D"/>
                </a:solidFill>
                <a:latin typeface="Calibri" pitchFamily="34" charset="0"/>
                <a:ea typeface="Calibri" pitchFamily="34" charset="-122"/>
                <a:cs typeface="Calibri" pitchFamily="34" charset="-120"/>
              </a:rPr>
              <a:t>фасеты</a:t>
            </a:r>
            <a:endParaRPr lang="en-US" sz="3000" dirty="0"/>
          </a:p>
        </p:txBody>
      </p:sp>
      <p:sp>
        <p:nvSpPr>
          <p:cNvPr id="14" name="Shape 11"/>
          <p:cNvSpPr/>
          <p:nvPr/>
        </p:nvSpPr>
        <p:spPr>
          <a:xfrm>
            <a:off x="4206240" y="1463040"/>
            <a:ext cx="2240280" cy="3108960"/>
          </a:xfrm>
          <a:prstGeom prst="roundRect">
            <a:avLst>
              <a:gd name="adj" fmla="val 6122"/>
            </a:avLst>
          </a:prstGeom>
          <a:solidFill>
            <a:srgbClr val="F3F6FA"/>
          </a:solidFill>
          <a:ln w="12700">
            <a:solidFill>
              <a:srgbClr val="C9D2E0"/>
            </a:solidFill>
            <a:prstDash val="solid"/>
          </a:ln>
        </p:spPr>
      </p:sp>
      <p:sp>
        <p:nvSpPr>
          <p:cNvPr id="15" name="Shape 12"/>
          <p:cNvSpPr/>
          <p:nvPr/>
        </p:nvSpPr>
        <p:spPr>
          <a:xfrm>
            <a:off x="4434840" y="1691640"/>
            <a:ext cx="1783080" cy="1463040"/>
          </a:xfrm>
          <a:prstGeom prst="roundRect">
            <a:avLst>
              <a:gd name="adj" fmla="val 6250"/>
            </a:avLst>
          </a:prstGeom>
          <a:solidFill>
            <a:srgbClr val="FBD9E8"/>
          </a:solidFill>
          <a:ln w="12700">
            <a:solidFill>
              <a:srgbClr val="FBD9E8"/>
            </a:solidFill>
            <a:prstDash val="solid"/>
          </a:ln>
        </p:spPr>
      </p:sp>
      <p:pic>
        <p:nvPicPr>
          <p:cNvPr id="16" name="Image 0" descr="preencoded.png"/>
          <p:cNvPicPr>
            <a:picLocks noChangeAspect="1"/>
          </p:cNvPicPr>
          <p:nvPr/>
        </p:nvPicPr>
        <p:blipFill>
          <a:blip r:embed="rId3"/>
          <a:stretch>
            <a:fillRect/>
          </a:stretch>
        </p:blipFill>
        <p:spPr>
          <a:xfrm>
            <a:off x="4864608" y="1965960"/>
            <a:ext cx="914400" cy="914400"/>
          </a:xfrm>
          <a:prstGeom prst="rect">
            <a:avLst/>
          </a:prstGeom>
        </p:spPr>
      </p:pic>
      <p:sp>
        <p:nvSpPr>
          <p:cNvPr id="17" name="Shape 13"/>
          <p:cNvSpPr/>
          <p:nvPr/>
        </p:nvSpPr>
        <p:spPr>
          <a:xfrm>
            <a:off x="4434840" y="3383280"/>
            <a:ext cx="1737360" cy="201168"/>
          </a:xfrm>
          <a:prstGeom prst="rect">
            <a:avLst/>
          </a:prstGeom>
          <a:solidFill>
            <a:srgbClr val="C9D2E0"/>
          </a:solidFill>
          <a:ln w="12700">
            <a:solidFill>
              <a:srgbClr val="C9D2E0"/>
            </a:solidFill>
            <a:prstDash val="solid"/>
          </a:ln>
        </p:spPr>
      </p:sp>
      <p:sp>
        <p:nvSpPr>
          <p:cNvPr id="18" name="Shape 14"/>
          <p:cNvSpPr/>
          <p:nvPr/>
        </p:nvSpPr>
        <p:spPr>
          <a:xfrm>
            <a:off x="4434840" y="3794760"/>
            <a:ext cx="1097280" cy="201168"/>
          </a:xfrm>
          <a:prstGeom prst="rect">
            <a:avLst/>
          </a:prstGeom>
          <a:solidFill>
            <a:srgbClr val="00A79D"/>
          </a:solidFill>
          <a:ln w="12700">
            <a:solidFill>
              <a:srgbClr val="00A79D"/>
            </a:solidFill>
            <a:prstDash val="solid"/>
          </a:ln>
        </p:spPr>
      </p:sp>
      <p:sp>
        <p:nvSpPr>
          <p:cNvPr id="19" name="Shape 15"/>
          <p:cNvSpPr/>
          <p:nvPr/>
        </p:nvSpPr>
        <p:spPr>
          <a:xfrm>
            <a:off x="6720840" y="1463040"/>
            <a:ext cx="2240280" cy="3108960"/>
          </a:xfrm>
          <a:prstGeom prst="roundRect">
            <a:avLst>
              <a:gd name="adj" fmla="val 6122"/>
            </a:avLst>
          </a:prstGeom>
          <a:solidFill>
            <a:srgbClr val="F3F6FA"/>
          </a:solidFill>
          <a:ln w="12700">
            <a:solidFill>
              <a:srgbClr val="C9D2E0"/>
            </a:solidFill>
            <a:prstDash val="solid"/>
          </a:ln>
        </p:spPr>
      </p:sp>
      <p:sp>
        <p:nvSpPr>
          <p:cNvPr id="20" name="Shape 16"/>
          <p:cNvSpPr/>
          <p:nvPr/>
        </p:nvSpPr>
        <p:spPr>
          <a:xfrm>
            <a:off x="6949440" y="1691640"/>
            <a:ext cx="1783080" cy="1463040"/>
          </a:xfrm>
          <a:prstGeom prst="roundRect">
            <a:avLst>
              <a:gd name="adj" fmla="val 6250"/>
            </a:avLst>
          </a:prstGeom>
          <a:solidFill>
            <a:srgbClr val="FBD9E8"/>
          </a:solidFill>
          <a:ln w="12700">
            <a:solidFill>
              <a:srgbClr val="FBD9E8"/>
            </a:solidFill>
            <a:prstDash val="solid"/>
          </a:ln>
        </p:spPr>
      </p:sp>
      <p:pic>
        <p:nvPicPr>
          <p:cNvPr id="21" name="Image 1" descr="preencoded.png"/>
          <p:cNvPicPr>
            <a:picLocks noChangeAspect="1"/>
          </p:cNvPicPr>
          <p:nvPr/>
        </p:nvPicPr>
        <p:blipFill>
          <a:blip r:embed="rId3"/>
          <a:stretch>
            <a:fillRect/>
          </a:stretch>
        </p:blipFill>
        <p:spPr>
          <a:xfrm>
            <a:off x="7379208" y="1965960"/>
            <a:ext cx="914400" cy="914400"/>
          </a:xfrm>
          <a:prstGeom prst="rect">
            <a:avLst/>
          </a:prstGeom>
        </p:spPr>
      </p:pic>
      <p:sp>
        <p:nvSpPr>
          <p:cNvPr id="22" name="Shape 17"/>
          <p:cNvSpPr/>
          <p:nvPr/>
        </p:nvSpPr>
        <p:spPr>
          <a:xfrm>
            <a:off x="6949440" y="3383280"/>
            <a:ext cx="1737360" cy="201168"/>
          </a:xfrm>
          <a:prstGeom prst="rect">
            <a:avLst/>
          </a:prstGeom>
          <a:solidFill>
            <a:srgbClr val="C9D2E0"/>
          </a:solidFill>
          <a:ln w="12700">
            <a:solidFill>
              <a:srgbClr val="C9D2E0"/>
            </a:solidFill>
            <a:prstDash val="solid"/>
          </a:ln>
        </p:spPr>
      </p:sp>
      <p:sp>
        <p:nvSpPr>
          <p:cNvPr id="23" name="Shape 18"/>
          <p:cNvSpPr/>
          <p:nvPr/>
        </p:nvSpPr>
        <p:spPr>
          <a:xfrm>
            <a:off x="6949440" y="3794760"/>
            <a:ext cx="1097280" cy="201168"/>
          </a:xfrm>
          <a:prstGeom prst="rect">
            <a:avLst/>
          </a:prstGeom>
          <a:solidFill>
            <a:srgbClr val="00A79D"/>
          </a:solidFill>
          <a:ln w="12700">
            <a:solidFill>
              <a:srgbClr val="00A79D"/>
            </a:solidFill>
            <a:prstDash val="solid"/>
          </a:ln>
        </p:spPr>
      </p:sp>
      <p:sp>
        <p:nvSpPr>
          <p:cNvPr id="24" name="Shape 19"/>
          <p:cNvSpPr/>
          <p:nvPr/>
        </p:nvSpPr>
        <p:spPr>
          <a:xfrm>
            <a:off x="9235440" y="1463040"/>
            <a:ext cx="2240280" cy="3108960"/>
          </a:xfrm>
          <a:prstGeom prst="roundRect">
            <a:avLst>
              <a:gd name="adj" fmla="val 6122"/>
            </a:avLst>
          </a:prstGeom>
          <a:solidFill>
            <a:srgbClr val="F3F6FA"/>
          </a:solidFill>
          <a:ln w="12700">
            <a:solidFill>
              <a:srgbClr val="C9D2E0"/>
            </a:solidFill>
            <a:prstDash val="solid"/>
          </a:ln>
        </p:spPr>
      </p:sp>
      <p:sp>
        <p:nvSpPr>
          <p:cNvPr id="25" name="Shape 20"/>
          <p:cNvSpPr/>
          <p:nvPr/>
        </p:nvSpPr>
        <p:spPr>
          <a:xfrm>
            <a:off x="9464040" y="1691640"/>
            <a:ext cx="1783080" cy="1463040"/>
          </a:xfrm>
          <a:prstGeom prst="roundRect">
            <a:avLst>
              <a:gd name="adj" fmla="val 6250"/>
            </a:avLst>
          </a:prstGeom>
          <a:solidFill>
            <a:srgbClr val="FBD9E8"/>
          </a:solidFill>
          <a:ln w="12700">
            <a:solidFill>
              <a:srgbClr val="FBD9E8"/>
            </a:solidFill>
            <a:prstDash val="solid"/>
          </a:ln>
        </p:spPr>
      </p:sp>
      <p:pic>
        <p:nvPicPr>
          <p:cNvPr id="26" name="Image 2" descr="preencoded.png"/>
          <p:cNvPicPr>
            <a:picLocks noChangeAspect="1"/>
          </p:cNvPicPr>
          <p:nvPr/>
        </p:nvPicPr>
        <p:blipFill>
          <a:blip r:embed="rId3"/>
          <a:stretch>
            <a:fillRect/>
          </a:stretch>
        </p:blipFill>
        <p:spPr>
          <a:xfrm>
            <a:off x="9893808" y="1965960"/>
            <a:ext cx="914400" cy="914400"/>
          </a:xfrm>
          <a:prstGeom prst="rect">
            <a:avLst/>
          </a:prstGeom>
        </p:spPr>
      </p:pic>
      <p:sp>
        <p:nvSpPr>
          <p:cNvPr id="27" name="Shape 21"/>
          <p:cNvSpPr/>
          <p:nvPr/>
        </p:nvSpPr>
        <p:spPr>
          <a:xfrm>
            <a:off x="9464040" y="3383280"/>
            <a:ext cx="1737360" cy="201168"/>
          </a:xfrm>
          <a:prstGeom prst="rect">
            <a:avLst/>
          </a:prstGeom>
          <a:solidFill>
            <a:srgbClr val="C9D2E0"/>
          </a:solidFill>
          <a:ln w="12700">
            <a:solidFill>
              <a:srgbClr val="C9D2E0"/>
            </a:solidFill>
            <a:prstDash val="solid"/>
          </a:ln>
        </p:spPr>
      </p:sp>
      <p:sp>
        <p:nvSpPr>
          <p:cNvPr id="28" name="Shape 22"/>
          <p:cNvSpPr/>
          <p:nvPr/>
        </p:nvSpPr>
        <p:spPr>
          <a:xfrm>
            <a:off x="9464040" y="3794760"/>
            <a:ext cx="1097280" cy="201168"/>
          </a:xfrm>
          <a:prstGeom prst="rect">
            <a:avLst/>
          </a:prstGeom>
          <a:solidFill>
            <a:srgbClr val="00A79D"/>
          </a:solidFill>
          <a:ln w="12700">
            <a:solidFill>
              <a:srgbClr val="00A79D"/>
            </a:solidFill>
            <a:prstDash val="solid"/>
          </a:ln>
        </p:spPr>
      </p:sp>
      <p:sp>
        <p:nvSpPr>
          <p:cNvPr id="29" name="Text 23"/>
          <p:cNvSpPr txBox="1"/>
          <p:nvPr/>
        </p:nvSpPr>
        <p:spPr>
          <a:xfrm>
            <a:off x="4206240" y="4846320"/>
            <a:ext cx="3657600" cy="1280160"/>
          </a:xfrm>
          <a:prstGeom prst="rect">
            <a:avLst/>
          </a:prstGeom>
          <a:noFill/>
          <a:ln/>
        </p:spPr>
        <p:txBody>
          <a:bodyPr wrap="square" lIns="0" tIns="0" rIns="0" bIns="0" rtlCol="0" anchor="ctr"/>
          <a:lstStyle/>
          <a:p>
            <a:pPr marL="0" indent="0">
              <a:buNone/>
            </a:pPr>
            <a:r>
              <a:rPr lang="en-US" sz="5400" b="1" dirty="0">
                <a:solidFill>
                  <a:srgbClr val="15213F"/>
                </a:solidFill>
                <a:latin typeface="Arial" pitchFamily="34" charset="0"/>
                <a:ea typeface="Arial" pitchFamily="34" charset="-122"/>
                <a:cs typeface="Arial" pitchFamily="34" charset="-120"/>
              </a:rPr>
              <a:t>≈ 20 мс</a:t>
            </a:r>
            <a:endParaRPr lang="en-US" sz="5400" dirty="0"/>
          </a:p>
        </p:txBody>
      </p:sp>
      <p:sp>
        <p:nvSpPr>
          <p:cNvPr id="30" name="Text 24"/>
          <p:cNvSpPr txBox="1"/>
          <p:nvPr/>
        </p:nvSpPr>
        <p:spPr>
          <a:xfrm>
            <a:off x="7863840" y="4846320"/>
            <a:ext cx="3749040" cy="1280160"/>
          </a:xfrm>
          <a:prstGeom prst="rect">
            <a:avLst/>
          </a:prstGeom>
          <a:noFill/>
          <a:ln/>
        </p:spPr>
        <p:txBody>
          <a:bodyPr wrap="square" lIns="0" tIns="0" rIns="0" bIns="0" rtlCol="0" anchor="ctr"/>
          <a:lstStyle/>
          <a:p>
            <a:pPr marL="0" indent="0">
              <a:buNone/>
            </a:pPr>
            <a:r>
              <a:rPr lang="en-US" sz="3000" dirty="0">
                <a:solidFill>
                  <a:srgbClr val="5B6477"/>
                </a:solidFill>
                <a:latin typeface="Calibri" pitchFamily="34" charset="0"/>
                <a:ea typeface="Calibri" pitchFamily="34" charset="-122"/>
                <a:cs typeface="Calibri" pitchFamily="34" charset="-120"/>
              </a:rPr>
              <a:t>на миллионах товаров</a:t>
            </a:r>
            <a:endParaRPr lang="en-US" sz="3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11247120" y="6309360"/>
            <a:ext cx="640080" cy="365760"/>
          </a:xfrm>
          <a:prstGeom prst="rect">
            <a:avLst/>
          </a:prstGeom>
          <a:noFill/>
          <a:ln/>
        </p:spPr>
        <p:txBody>
          <a:bodyPr wrap="square" lIns="0" tIns="0" rIns="0" bIns="0" rtlCol="0" anchor="ctr"/>
          <a:lstStyle/>
          <a:p>
            <a:pPr marL="0" indent="0" algn="r">
              <a:buNone/>
            </a:pPr>
            <a:r>
              <a:rPr lang="en-US" sz="1400" dirty="0">
                <a:solidFill>
                  <a:srgbClr val="8A93AD"/>
                </a:solidFill>
                <a:latin typeface="Calibri" pitchFamily="34" charset="0"/>
                <a:ea typeface="Calibri" pitchFamily="34" charset="-122"/>
                <a:cs typeface="Calibri" pitchFamily="34" charset="-120"/>
              </a:rPr>
              <a:t>12</a:t>
            </a:r>
            <a:endParaRPr lang="en-US" sz="1400" dirty="0"/>
          </a:p>
        </p:txBody>
      </p:sp>
      <p:sp>
        <p:nvSpPr>
          <p:cNvPr id="4" name="Text 1"/>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4000" b="1" dirty="0">
                <a:solidFill>
                  <a:srgbClr val="15213F"/>
                </a:solidFill>
                <a:latin typeface="Arial" pitchFamily="34" charset="0"/>
                <a:ea typeface="Arial" pitchFamily="34" charset="-122"/>
                <a:cs typeface="Arial" pitchFamily="34" charset="-120"/>
              </a:rPr>
              <a:t>Пример 2: централизованные логи</a:t>
            </a:r>
            <a:endParaRPr lang="en-US" sz="4000" dirty="0"/>
          </a:p>
        </p:txBody>
      </p:sp>
      <p:sp>
        <p:nvSpPr>
          <p:cNvPr id="5" name="Shape 2"/>
          <p:cNvSpPr/>
          <p:nvPr/>
        </p:nvSpPr>
        <p:spPr>
          <a:xfrm>
            <a:off x="868680" y="1417320"/>
            <a:ext cx="1188720" cy="1188720"/>
          </a:xfrm>
          <a:prstGeom prst="ellipse">
            <a:avLst/>
          </a:prstGeom>
          <a:solidFill>
            <a:srgbClr val="5B6477"/>
          </a:solidFill>
          <a:ln w="12700">
            <a:solidFill>
              <a:srgbClr val="5B6477"/>
            </a:solidFill>
            <a:prstDash val="solid"/>
          </a:ln>
        </p:spPr>
      </p:sp>
      <p:pic>
        <p:nvPicPr>
          <p:cNvPr id="6" name="Image 0" descr="preencoded.png"/>
          <p:cNvPicPr>
            <a:picLocks noChangeAspect="1"/>
          </p:cNvPicPr>
          <p:nvPr/>
        </p:nvPicPr>
        <p:blipFill>
          <a:blip r:embed="rId3"/>
          <a:stretch>
            <a:fillRect/>
          </a:stretch>
        </p:blipFill>
        <p:spPr>
          <a:xfrm>
            <a:off x="1165860" y="1714500"/>
            <a:ext cx="594360" cy="594360"/>
          </a:xfrm>
          <a:prstGeom prst="rect">
            <a:avLst/>
          </a:prstGeom>
        </p:spPr>
      </p:pic>
      <p:sp>
        <p:nvSpPr>
          <p:cNvPr id="7" name="Text 3"/>
          <p:cNvSpPr txBox="1"/>
          <p:nvPr/>
        </p:nvSpPr>
        <p:spPr>
          <a:xfrm>
            <a:off x="365760" y="2697480"/>
            <a:ext cx="2194560" cy="640080"/>
          </a:xfrm>
          <a:prstGeom prst="rect">
            <a:avLst/>
          </a:prstGeom>
          <a:noFill/>
          <a:ln/>
        </p:spPr>
        <p:txBody>
          <a:bodyPr wrap="square" lIns="0" tIns="0" rIns="0" bIns="0" rtlCol="0" anchor="ctr"/>
          <a:lstStyle/>
          <a:p>
            <a:pPr marL="0" indent="0" algn="ctr">
              <a:buNone/>
            </a:pPr>
            <a:r>
              <a:rPr lang="en-US" sz="2800" b="1" dirty="0">
                <a:solidFill>
                  <a:srgbClr val="1C2333"/>
                </a:solidFill>
                <a:latin typeface="Calibri" pitchFamily="34" charset="0"/>
                <a:ea typeface="Calibri" pitchFamily="34" charset="-122"/>
                <a:cs typeface="Calibri" pitchFamily="34" charset="-120"/>
              </a:rPr>
              <a:t>Сервисы</a:t>
            </a:r>
            <a:endParaRPr lang="en-US" sz="2800" dirty="0"/>
          </a:p>
        </p:txBody>
      </p:sp>
      <p:sp>
        <p:nvSpPr>
          <p:cNvPr id="8" name="Shape 4"/>
          <p:cNvSpPr/>
          <p:nvPr/>
        </p:nvSpPr>
        <p:spPr>
          <a:xfrm>
            <a:off x="2194560" y="1828800"/>
            <a:ext cx="457200" cy="411480"/>
          </a:xfrm>
          <a:prstGeom prst="rightArrow">
            <a:avLst/>
          </a:prstGeom>
          <a:solidFill>
            <a:srgbClr val="5B6477"/>
          </a:solidFill>
          <a:ln w="12700">
            <a:solidFill>
              <a:srgbClr val="5B6477"/>
            </a:solidFill>
            <a:prstDash val="solid"/>
          </a:ln>
        </p:spPr>
      </p:sp>
      <p:sp>
        <p:nvSpPr>
          <p:cNvPr id="9" name="Shape 5"/>
          <p:cNvSpPr/>
          <p:nvPr/>
        </p:nvSpPr>
        <p:spPr>
          <a:xfrm>
            <a:off x="3200400" y="1417320"/>
            <a:ext cx="1188720" cy="1188720"/>
          </a:xfrm>
          <a:prstGeom prst="ellipse">
            <a:avLst/>
          </a:prstGeom>
          <a:solidFill>
            <a:srgbClr val="0B64DD"/>
          </a:solidFill>
          <a:ln w="12700">
            <a:solidFill>
              <a:srgbClr val="0B64DD"/>
            </a:solidFill>
            <a:prstDash val="solid"/>
          </a:ln>
        </p:spPr>
      </p:sp>
      <p:pic>
        <p:nvPicPr>
          <p:cNvPr id="10" name="Image 1" descr="preencoded.png"/>
          <p:cNvPicPr>
            <a:picLocks noChangeAspect="1"/>
          </p:cNvPicPr>
          <p:nvPr/>
        </p:nvPicPr>
        <p:blipFill>
          <a:blip r:embed="rId4"/>
          <a:stretch>
            <a:fillRect/>
          </a:stretch>
        </p:blipFill>
        <p:spPr>
          <a:xfrm>
            <a:off x="3497580" y="1714500"/>
            <a:ext cx="594360" cy="594360"/>
          </a:xfrm>
          <a:prstGeom prst="rect">
            <a:avLst/>
          </a:prstGeom>
        </p:spPr>
      </p:pic>
      <p:sp>
        <p:nvSpPr>
          <p:cNvPr id="11" name="Text 6"/>
          <p:cNvSpPr txBox="1"/>
          <p:nvPr/>
        </p:nvSpPr>
        <p:spPr>
          <a:xfrm>
            <a:off x="2697480" y="2697480"/>
            <a:ext cx="2194560" cy="640080"/>
          </a:xfrm>
          <a:prstGeom prst="rect">
            <a:avLst/>
          </a:prstGeom>
          <a:noFill/>
          <a:ln/>
        </p:spPr>
        <p:txBody>
          <a:bodyPr wrap="square" lIns="0" tIns="0" rIns="0" bIns="0" rtlCol="0" anchor="ctr"/>
          <a:lstStyle/>
          <a:p>
            <a:pPr marL="0" indent="0" algn="ctr">
              <a:buNone/>
            </a:pPr>
            <a:r>
              <a:rPr lang="en-US" sz="2800" b="1" dirty="0">
                <a:solidFill>
                  <a:srgbClr val="1C2333"/>
                </a:solidFill>
                <a:latin typeface="Calibri" pitchFamily="34" charset="0"/>
                <a:ea typeface="Calibri" pitchFamily="34" charset="-122"/>
                <a:cs typeface="Calibri" pitchFamily="34" charset="-120"/>
              </a:rPr>
              <a:t>Filebeat</a:t>
            </a:r>
            <a:endParaRPr lang="en-US" sz="2800" dirty="0"/>
          </a:p>
        </p:txBody>
      </p:sp>
      <p:sp>
        <p:nvSpPr>
          <p:cNvPr id="12" name="Shape 7"/>
          <p:cNvSpPr/>
          <p:nvPr/>
        </p:nvSpPr>
        <p:spPr>
          <a:xfrm>
            <a:off x="4526280" y="1828800"/>
            <a:ext cx="457200" cy="411480"/>
          </a:xfrm>
          <a:prstGeom prst="rightArrow">
            <a:avLst/>
          </a:prstGeom>
          <a:solidFill>
            <a:srgbClr val="5B6477"/>
          </a:solidFill>
          <a:ln w="12700">
            <a:solidFill>
              <a:srgbClr val="5B6477"/>
            </a:solidFill>
            <a:prstDash val="solid"/>
          </a:ln>
        </p:spPr>
      </p:sp>
      <p:sp>
        <p:nvSpPr>
          <p:cNvPr id="13" name="Shape 8"/>
          <p:cNvSpPr/>
          <p:nvPr/>
        </p:nvSpPr>
        <p:spPr>
          <a:xfrm>
            <a:off x="5532120" y="1417320"/>
            <a:ext cx="1188720" cy="1188720"/>
          </a:xfrm>
          <a:prstGeom prst="ellipse">
            <a:avLst/>
          </a:prstGeom>
          <a:solidFill>
            <a:srgbClr val="F04E98"/>
          </a:solidFill>
          <a:ln w="12700">
            <a:solidFill>
              <a:srgbClr val="F04E98"/>
            </a:solidFill>
            <a:prstDash val="solid"/>
          </a:ln>
        </p:spPr>
      </p:sp>
      <p:pic>
        <p:nvPicPr>
          <p:cNvPr id="14" name="Image 2" descr="preencoded.png"/>
          <p:cNvPicPr>
            <a:picLocks noChangeAspect="1"/>
          </p:cNvPicPr>
          <p:nvPr/>
        </p:nvPicPr>
        <p:blipFill>
          <a:blip r:embed="rId5"/>
          <a:stretch>
            <a:fillRect/>
          </a:stretch>
        </p:blipFill>
        <p:spPr>
          <a:xfrm>
            <a:off x="5829300" y="1714500"/>
            <a:ext cx="594360" cy="594360"/>
          </a:xfrm>
          <a:prstGeom prst="rect">
            <a:avLst/>
          </a:prstGeom>
        </p:spPr>
      </p:pic>
      <p:sp>
        <p:nvSpPr>
          <p:cNvPr id="15" name="Text 9"/>
          <p:cNvSpPr txBox="1"/>
          <p:nvPr/>
        </p:nvSpPr>
        <p:spPr>
          <a:xfrm>
            <a:off x="5029200" y="2697480"/>
            <a:ext cx="2194560" cy="640080"/>
          </a:xfrm>
          <a:prstGeom prst="rect">
            <a:avLst/>
          </a:prstGeom>
          <a:noFill/>
          <a:ln/>
        </p:spPr>
        <p:txBody>
          <a:bodyPr wrap="square" lIns="0" tIns="0" rIns="0" bIns="0" rtlCol="0" anchor="ctr"/>
          <a:lstStyle/>
          <a:p>
            <a:pPr marL="0" indent="0" algn="ctr">
              <a:buNone/>
            </a:pPr>
            <a:r>
              <a:rPr lang="en-US" sz="2800" b="1" dirty="0">
                <a:solidFill>
                  <a:srgbClr val="1C2333"/>
                </a:solidFill>
                <a:latin typeface="Calibri" pitchFamily="34" charset="0"/>
                <a:ea typeface="Calibri" pitchFamily="34" charset="-122"/>
                <a:cs typeface="Calibri" pitchFamily="34" charset="-120"/>
              </a:rPr>
              <a:t>Logstash</a:t>
            </a:r>
            <a:endParaRPr lang="en-US" sz="2800" dirty="0"/>
          </a:p>
        </p:txBody>
      </p:sp>
      <p:sp>
        <p:nvSpPr>
          <p:cNvPr id="16" name="Shape 10"/>
          <p:cNvSpPr/>
          <p:nvPr/>
        </p:nvSpPr>
        <p:spPr>
          <a:xfrm>
            <a:off x="6858000" y="1828800"/>
            <a:ext cx="457200" cy="411480"/>
          </a:xfrm>
          <a:prstGeom prst="rightArrow">
            <a:avLst/>
          </a:prstGeom>
          <a:solidFill>
            <a:srgbClr val="5B6477"/>
          </a:solidFill>
          <a:ln w="12700">
            <a:solidFill>
              <a:srgbClr val="5B6477"/>
            </a:solidFill>
            <a:prstDash val="solid"/>
          </a:ln>
        </p:spPr>
      </p:sp>
      <p:sp>
        <p:nvSpPr>
          <p:cNvPr id="17" name="Shape 11"/>
          <p:cNvSpPr/>
          <p:nvPr/>
        </p:nvSpPr>
        <p:spPr>
          <a:xfrm>
            <a:off x="7863840" y="1417320"/>
            <a:ext cx="1188720" cy="1188720"/>
          </a:xfrm>
          <a:prstGeom prst="ellipse">
            <a:avLst/>
          </a:prstGeom>
          <a:solidFill>
            <a:srgbClr val="00A79D"/>
          </a:solidFill>
          <a:ln w="12700">
            <a:solidFill>
              <a:srgbClr val="00A79D"/>
            </a:solidFill>
            <a:prstDash val="solid"/>
          </a:ln>
        </p:spPr>
      </p:sp>
      <p:pic>
        <p:nvPicPr>
          <p:cNvPr id="18" name="Image 3" descr="preencoded.png"/>
          <p:cNvPicPr>
            <a:picLocks noChangeAspect="1"/>
          </p:cNvPicPr>
          <p:nvPr/>
        </p:nvPicPr>
        <p:blipFill>
          <a:blip r:embed="rId6"/>
          <a:stretch>
            <a:fillRect/>
          </a:stretch>
        </p:blipFill>
        <p:spPr>
          <a:xfrm>
            <a:off x="8161020" y="1714500"/>
            <a:ext cx="594360" cy="594360"/>
          </a:xfrm>
          <a:prstGeom prst="rect">
            <a:avLst/>
          </a:prstGeom>
        </p:spPr>
      </p:pic>
      <p:sp>
        <p:nvSpPr>
          <p:cNvPr id="19" name="Text 12"/>
          <p:cNvSpPr txBox="1"/>
          <p:nvPr/>
        </p:nvSpPr>
        <p:spPr>
          <a:xfrm>
            <a:off x="7360920" y="2697480"/>
            <a:ext cx="2194560" cy="640080"/>
          </a:xfrm>
          <a:prstGeom prst="rect">
            <a:avLst/>
          </a:prstGeom>
          <a:noFill/>
          <a:ln/>
        </p:spPr>
        <p:txBody>
          <a:bodyPr wrap="square" lIns="0" tIns="0" rIns="0" bIns="0" rtlCol="0" anchor="ctr"/>
          <a:lstStyle/>
          <a:p>
            <a:pPr marL="0" indent="0" algn="ctr">
              <a:buNone/>
            </a:pPr>
            <a:r>
              <a:rPr lang="en-US" sz="2800" b="1" dirty="0">
                <a:solidFill>
                  <a:srgbClr val="1C2333"/>
                </a:solidFill>
                <a:latin typeface="Calibri" pitchFamily="34" charset="0"/>
                <a:ea typeface="Calibri" pitchFamily="34" charset="-122"/>
                <a:cs typeface="Calibri" pitchFamily="34" charset="-120"/>
              </a:rPr>
              <a:t>ES</a:t>
            </a:r>
            <a:endParaRPr lang="en-US" sz="2800" dirty="0"/>
          </a:p>
        </p:txBody>
      </p:sp>
      <p:sp>
        <p:nvSpPr>
          <p:cNvPr id="20" name="Shape 13"/>
          <p:cNvSpPr/>
          <p:nvPr/>
        </p:nvSpPr>
        <p:spPr>
          <a:xfrm>
            <a:off x="9189720" y="1828800"/>
            <a:ext cx="457200" cy="411480"/>
          </a:xfrm>
          <a:prstGeom prst="rightArrow">
            <a:avLst/>
          </a:prstGeom>
          <a:solidFill>
            <a:srgbClr val="5B6477"/>
          </a:solidFill>
          <a:ln w="12700">
            <a:solidFill>
              <a:srgbClr val="5B6477"/>
            </a:solidFill>
            <a:prstDash val="solid"/>
          </a:ln>
        </p:spPr>
      </p:sp>
      <p:sp>
        <p:nvSpPr>
          <p:cNvPr id="21" name="Shape 14"/>
          <p:cNvSpPr/>
          <p:nvPr/>
        </p:nvSpPr>
        <p:spPr>
          <a:xfrm>
            <a:off x="10195560" y="1417320"/>
            <a:ext cx="1188720" cy="1188720"/>
          </a:xfrm>
          <a:prstGeom prst="ellipse">
            <a:avLst/>
          </a:prstGeom>
          <a:solidFill>
            <a:srgbClr val="FEC514"/>
          </a:solidFill>
          <a:ln w="12700">
            <a:solidFill>
              <a:srgbClr val="FEC514"/>
            </a:solidFill>
            <a:prstDash val="solid"/>
          </a:ln>
        </p:spPr>
      </p:sp>
      <p:pic>
        <p:nvPicPr>
          <p:cNvPr id="22" name="Image 4" descr="preencoded.png"/>
          <p:cNvPicPr>
            <a:picLocks noChangeAspect="1"/>
          </p:cNvPicPr>
          <p:nvPr/>
        </p:nvPicPr>
        <p:blipFill>
          <a:blip r:embed="rId7"/>
          <a:stretch>
            <a:fillRect/>
          </a:stretch>
        </p:blipFill>
        <p:spPr>
          <a:xfrm>
            <a:off x="10492740" y="1714500"/>
            <a:ext cx="594360" cy="594360"/>
          </a:xfrm>
          <a:prstGeom prst="rect">
            <a:avLst/>
          </a:prstGeom>
        </p:spPr>
      </p:pic>
      <p:sp>
        <p:nvSpPr>
          <p:cNvPr id="23" name="Text 15"/>
          <p:cNvSpPr txBox="1"/>
          <p:nvPr/>
        </p:nvSpPr>
        <p:spPr>
          <a:xfrm>
            <a:off x="9692640" y="2697480"/>
            <a:ext cx="2194560" cy="640080"/>
          </a:xfrm>
          <a:prstGeom prst="rect">
            <a:avLst/>
          </a:prstGeom>
          <a:noFill/>
          <a:ln/>
        </p:spPr>
        <p:txBody>
          <a:bodyPr wrap="square" lIns="0" tIns="0" rIns="0" bIns="0" rtlCol="0" anchor="ctr"/>
          <a:lstStyle/>
          <a:p>
            <a:pPr marL="0" indent="0" algn="ctr">
              <a:buNone/>
            </a:pPr>
            <a:r>
              <a:rPr lang="en-US" sz="2800" b="1" dirty="0">
                <a:solidFill>
                  <a:srgbClr val="1C2333"/>
                </a:solidFill>
                <a:latin typeface="Calibri" pitchFamily="34" charset="0"/>
                <a:ea typeface="Calibri" pitchFamily="34" charset="-122"/>
                <a:cs typeface="Calibri" pitchFamily="34" charset="-120"/>
              </a:rPr>
              <a:t>Kibana</a:t>
            </a:r>
            <a:endParaRPr lang="en-US" sz="2800" dirty="0"/>
          </a:p>
        </p:txBody>
      </p:sp>
      <p:sp>
        <p:nvSpPr>
          <p:cNvPr id="24" name="Shape 16"/>
          <p:cNvSpPr/>
          <p:nvPr/>
        </p:nvSpPr>
        <p:spPr>
          <a:xfrm>
            <a:off x="548640" y="3657600"/>
            <a:ext cx="11064240" cy="1005840"/>
          </a:xfrm>
          <a:prstGeom prst="roundRect">
            <a:avLst>
              <a:gd name="adj" fmla="val 13636"/>
            </a:avLst>
          </a:prstGeom>
          <a:solidFill>
            <a:srgbClr val="2B3450"/>
          </a:solidFill>
          <a:ln w="12700">
            <a:solidFill>
              <a:srgbClr val="2B3450"/>
            </a:solidFill>
            <a:prstDash val="solid"/>
          </a:ln>
        </p:spPr>
      </p:sp>
      <p:sp>
        <p:nvSpPr>
          <p:cNvPr id="25" name="Text 17"/>
          <p:cNvSpPr txBox="1"/>
          <p:nvPr/>
        </p:nvSpPr>
        <p:spPr>
          <a:xfrm>
            <a:off x="822960" y="3657600"/>
            <a:ext cx="10607040" cy="1005840"/>
          </a:xfrm>
          <a:prstGeom prst="rect">
            <a:avLst/>
          </a:prstGeom>
          <a:noFill/>
          <a:ln/>
        </p:spPr>
        <p:txBody>
          <a:bodyPr wrap="square" lIns="0" tIns="0" rIns="0" bIns="0" rtlCol="0" anchor="ctr"/>
          <a:lstStyle/>
          <a:p>
            <a:pPr marL="0" indent="0">
              <a:buNone/>
            </a:pPr>
            <a:r>
              <a:rPr lang="en-US" sz="3000" dirty="0">
                <a:solidFill>
                  <a:srgbClr val="FFFFFF"/>
                </a:solidFill>
                <a:latin typeface="Courier New" pitchFamily="34" charset="0"/>
                <a:ea typeface="Courier New" pitchFamily="34" charset="-122"/>
                <a:cs typeface="Courier New" pitchFamily="34" charset="-120"/>
              </a:rPr>
              <a:t>03:12 ERROR payment Timeout</a:t>
            </a:r>
            <a:endParaRPr lang="en-US" sz="3000" dirty="0"/>
          </a:p>
        </p:txBody>
      </p:sp>
      <p:sp>
        <p:nvSpPr>
          <p:cNvPr id="26" name="Shape 18"/>
          <p:cNvSpPr/>
          <p:nvPr/>
        </p:nvSpPr>
        <p:spPr>
          <a:xfrm>
            <a:off x="548640" y="5120640"/>
            <a:ext cx="3474720" cy="1005840"/>
          </a:xfrm>
          <a:prstGeom prst="roundRect">
            <a:avLst>
              <a:gd name="adj" fmla="val 13636"/>
            </a:avLst>
          </a:prstGeom>
          <a:solidFill>
            <a:srgbClr val="F04E98"/>
          </a:solidFill>
          <a:ln w="12700">
            <a:solidFill>
              <a:srgbClr val="F04E98"/>
            </a:solidFill>
            <a:prstDash val="solid"/>
          </a:ln>
        </p:spPr>
      </p:sp>
      <p:sp>
        <p:nvSpPr>
          <p:cNvPr id="27" name="Text 19"/>
          <p:cNvSpPr txBox="1"/>
          <p:nvPr/>
        </p:nvSpPr>
        <p:spPr>
          <a:xfrm>
            <a:off x="548640" y="5120640"/>
            <a:ext cx="3474720" cy="1005840"/>
          </a:xfrm>
          <a:prstGeom prst="rect">
            <a:avLst/>
          </a:prstGeom>
          <a:noFill/>
          <a:ln/>
        </p:spPr>
        <p:txBody>
          <a:bodyPr wrap="square" lIns="0" tIns="0" rIns="0" bIns="0" rtlCol="0" anchor="ctr"/>
          <a:lstStyle/>
          <a:p>
            <a:pPr marL="0" indent="0" algn="ctr">
              <a:buNone/>
            </a:pPr>
            <a:r>
              <a:rPr lang="en-US" sz="2400" b="1" dirty="0">
                <a:solidFill>
                  <a:srgbClr val="FFFFFF"/>
                </a:solidFill>
                <a:latin typeface="Courier New" pitchFamily="34" charset="0"/>
                <a:ea typeface="Courier New" pitchFamily="34" charset="-122"/>
                <a:cs typeface="Courier New" pitchFamily="34" charset="-120"/>
              </a:rPr>
              <a:t>level: ERROR</a:t>
            </a:r>
            <a:endParaRPr lang="en-US" sz="2400" dirty="0"/>
          </a:p>
        </p:txBody>
      </p:sp>
      <p:sp>
        <p:nvSpPr>
          <p:cNvPr id="28" name="Shape 20"/>
          <p:cNvSpPr/>
          <p:nvPr/>
        </p:nvSpPr>
        <p:spPr>
          <a:xfrm>
            <a:off x="4297680" y="5120640"/>
            <a:ext cx="3474720" cy="1005840"/>
          </a:xfrm>
          <a:prstGeom prst="roundRect">
            <a:avLst>
              <a:gd name="adj" fmla="val 13636"/>
            </a:avLst>
          </a:prstGeom>
          <a:solidFill>
            <a:srgbClr val="0B64DD"/>
          </a:solidFill>
          <a:ln w="12700">
            <a:solidFill>
              <a:srgbClr val="0B64DD"/>
            </a:solidFill>
            <a:prstDash val="solid"/>
          </a:ln>
        </p:spPr>
      </p:sp>
      <p:sp>
        <p:nvSpPr>
          <p:cNvPr id="29" name="Text 21"/>
          <p:cNvSpPr txBox="1"/>
          <p:nvPr/>
        </p:nvSpPr>
        <p:spPr>
          <a:xfrm>
            <a:off x="4297680" y="5120640"/>
            <a:ext cx="3474720" cy="1005840"/>
          </a:xfrm>
          <a:prstGeom prst="rect">
            <a:avLst/>
          </a:prstGeom>
          <a:noFill/>
          <a:ln/>
        </p:spPr>
        <p:txBody>
          <a:bodyPr wrap="square" lIns="0" tIns="0" rIns="0" bIns="0" rtlCol="0" anchor="ctr"/>
          <a:lstStyle/>
          <a:p>
            <a:pPr marL="0" indent="0" algn="ctr">
              <a:buNone/>
            </a:pPr>
            <a:r>
              <a:rPr lang="en-US" sz="2400" b="1" dirty="0">
                <a:solidFill>
                  <a:srgbClr val="FFFFFF"/>
                </a:solidFill>
                <a:latin typeface="Courier New" pitchFamily="34" charset="0"/>
                <a:ea typeface="Courier New" pitchFamily="34" charset="-122"/>
                <a:cs typeface="Courier New" pitchFamily="34" charset="-120"/>
              </a:rPr>
              <a:t>service: payment</a:t>
            </a:r>
            <a:endParaRPr lang="en-US" sz="2400" dirty="0"/>
          </a:p>
        </p:txBody>
      </p:sp>
      <p:sp>
        <p:nvSpPr>
          <p:cNvPr id="30" name="Shape 22"/>
          <p:cNvSpPr/>
          <p:nvPr/>
        </p:nvSpPr>
        <p:spPr>
          <a:xfrm>
            <a:off x="8046720" y="5120640"/>
            <a:ext cx="3474720" cy="1005840"/>
          </a:xfrm>
          <a:prstGeom prst="roundRect">
            <a:avLst>
              <a:gd name="adj" fmla="val 13636"/>
            </a:avLst>
          </a:prstGeom>
          <a:solidFill>
            <a:srgbClr val="00A79D"/>
          </a:solidFill>
          <a:ln w="12700">
            <a:solidFill>
              <a:srgbClr val="00A79D"/>
            </a:solidFill>
            <a:prstDash val="solid"/>
          </a:ln>
        </p:spPr>
      </p:sp>
      <p:sp>
        <p:nvSpPr>
          <p:cNvPr id="31" name="Text 23"/>
          <p:cNvSpPr txBox="1"/>
          <p:nvPr/>
        </p:nvSpPr>
        <p:spPr>
          <a:xfrm>
            <a:off x="8046720" y="5120640"/>
            <a:ext cx="3474720" cy="1005840"/>
          </a:xfrm>
          <a:prstGeom prst="rect">
            <a:avLst/>
          </a:prstGeom>
          <a:noFill/>
          <a:ln/>
        </p:spPr>
        <p:txBody>
          <a:bodyPr wrap="square" lIns="0" tIns="0" rIns="0" bIns="0" rtlCol="0" anchor="ctr"/>
          <a:lstStyle/>
          <a:p>
            <a:pPr marL="0" indent="0" algn="ctr">
              <a:buNone/>
            </a:pPr>
            <a:r>
              <a:rPr lang="en-US" sz="2400" b="1" dirty="0">
                <a:solidFill>
                  <a:srgbClr val="FFFFFF"/>
                </a:solidFill>
                <a:latin typeface="Courier New" pitchFamily="34" charset="0"/>
                <a:ea typeface="Courier New" pitchFamily="34" charset="-122"/>
                <a:cs typeface="Courier New" pitchFamily="34" charset="-120"/>
              </a:rPr>
              <a:t>time: 03:12</a:t>
            </a:r>
            <a:endParaRPr lang="en-US" sz="2400" dirty="0"/>
          </a:p>
        </p:txBody>
      </p:sp>
      <p:sp>
        <p:nvSpPr>
          <p:cNvPr id="32" name="Text 24"/>
          <p:cNvSpPr txBox="1"/>
          <p:nvPr/>
        </p:nvSpPr>
        <p:spPr>
          <a:xfrm>
            <a:off x="5120640" y="4663440"/>
            <a:ext cx="1920240" cy="457200"/>
          </a:xfrm>
          <a:prstGeom prst="rect">
            <a:avLst/>
          </a:prstGeom>
          <a:noFill/>
          <a:ln/>
        </p:spPr>
        <p:txBody>
          <a:bodyPr wrap="square" lIns="0" tIns="0" rIns="0" bIns="0" rtlCol="0" anchor="ctr"/>
          <a:lstStyle/>
          <a:p>
            <a:pPr marL="0" indent="0" algn="ctr">
              <a:buNone/>
            </a:pPr>
            <a:r>
              <a:rPr lang="en-US" sz="2200" i="1" dirty="0">
                <a:solidFill>
                  <a:srgbClr val="5B6477"/>
                </a:solidFill>
                <a:latin typeface="Calibri" pitchFamily="34" charset="0"/>
                <a:ea typeface="Calibri" pitchFamily="34" charset="-122"/>
                <a:cs typeface="Calibri" pitchFamily="34" charset="-120"/>
              </a:rPr>
              <a:t>grok ↓</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11247120" y="6309360"/>
            <a:ext cx="640080" cy="365760"/>
          </a:xfrm>
          <a:prstGeom prst="rect">
            <a:avLst/>
          </a:prstGeom>
          <a:noFill/>
          <a:ln/>
        </p:spPr>
        <p:txBody>
          <a:bodyPr wrap="square" lIns="0" tIns="0" rIns="0" bIns="0" rtlCol="0" anchor="ctr"/>
          <a:lstStyle/>
          <a:p>
            <a:pPr marL="0" indent="0" algn="r">
              <a:buNone/>
            </a:pPr>
            <a:r>
              <a:rPr lang="en-US" sz="1400" dirty="0">
                <a:solidFill>
                  <a:srgbClr val="8A93AD"/>
                </a:solidFill>
                <a:latin typeface="Calibri" pitchFamily="34" charset="0"/>
                <a:ea typeface="Calibri" pitchFamily="34" charset="-122"/>
                <a:cs typeface="Calibri" pitchFamily="34" charset="-120"/>
              </a:rPr>
              <a:t>13</a:t>
            </a:r>
            <a:endParaRPr lang="en-US" sz="1400" dirty="0"/>
          </a:p>
        </p:txBody>
      </p:sp>
      <p:sp>
        <p:nvSpPr>
          <p:cNvPr id="4" name="Text 1"/>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4000" b="1" dirty="0">
                <a:solidFill>
                  <a:srgbClr val="15213F"/>
                </a:solidFill>
                <a:latin typeface="Arial" pitchFamily="34" charset="0"/>
                <a:ea typeface="Arial" pitchFamily="34" charset="-122"/>
                <a:cs typeface="Arial" pitchFamily="34" charset="-120"/>
              </a:rPr>
              <a:t>Пример 2: оповещения</a:t>
            </a:r>
            <a:endParaRPr lang="en-US" sz="4000" dirty="0"/>
          </a:p>
        </p:txBody>
      </p:sp>
      <p:graphicFrame>
        <p:nvGraphicFramePr>
          <p:cNvPr id="5" name="Chart 0"/>
          <p:cNvGraphicFramePr/>
          <p:nvPr/>
        </p:nvGraphicFramePr>
        <p:xfrm>
          <a:off x="548640" y="1371600"/>
          <a:ext cx="6766560" cy="49377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7772400" y="1554480"/>
            <a:ext cx="3840480" cy="4572000"/>
          </a:xfrm>
          <a:prstGeom prst="roundRect">
            <a:avLst>
              <a:gd name="adj" fmla="val 3571"/>
            </a:avLst>
          </a:prstGeom>
          <a:solidFill>
            <a:srgbClr val="FDE6F0"/>
          </a:solidFill>
          <a:ln w="12700">
            <a:solidFill>
              <a:srgbClr val="FDE6F0"/>
            </a:solidFill>
            <a:prstDash val="solid"/>
          </a:ln>
        </p:spPr>
      </p:sp>
      <p:sp>
        <p:nvSpPr>
          <p:cNvPr id="7" name="Shape 3"/>
          <p:cNvSpPr/>
          <p:nvPr/>
        </p:nvSpPr>
        <p:spPr>
          <a:xfrm>
            <a:off x="8961120" y="1828800"/>
            <a:ext cx="1463040" cy="1463040"/>
          </a:xfrm>
          <a:prstGeom prst="ellipse">
            <a:avLst/>
          </a:prstGeom>
          <a:solidFill>
            <a:srgbClr val="F04E98"/>
          </a:solidFill>
          <a:ln w="12700">
            <a:solidFill>
              <a:srgbClr val="F04E98"/>
            </a:solidFill>
            <a:prstDash val="solid"/>
          </a:ln>
        </p:spPr>
      </p:sp>
      <p:pic>
        <p:nvPicPr>
          <p:cNvPr id="8" name="Image 0" descr="preencoded.png"/>
          <p:cNvPicPr>
            <a:picLocks noChangeAspect="1"/>
          </p:cNvPicPr>
          <p:nvPr/>
        </p:nvPicPr>
        <p:blipFill>
          <a:blip r:embed="rId4"/>
          <a:stretch>
            <a:fillRect/>
          </a:stretch>
        </p:blipFill>
        <p:spPr>
          <a:xfrm>
            <a:off x="9326880" y="2194560"/>
            <a:ext cx="731520" cy="731520"/>
          </a:xfrm>
          <a:prstGeom prst="rect">
            <a:avLst/>
          </a:prstGeom>
        </p:spPr>
      </p:pic>
      <p:sp>
        <p:nvSpPr>
          <p:cNvPr id="9" name="Text 4"/>
          <p:cNvSpPr txBox="1"/>
          <p:nvPr/>
        </p:nvSpPr>
        <p:spPr>
          <a:xfrm>
            <a:off x="7863840" y="3474720"/>
            <a:ext cx="3657600" cy="1371600"/>
          </a:xfrm>
          <a:prstGeom prst="rect">
            <a:avLst/>
          </a:prstGeom>
          <a:noFill/>
          <a:ln/>
        </p:spPr>
        <p:txBody>
          <a:bodyPr wrap="square" lIns="0" tIns="0" rIns="0" bIns="0" rtlCol="0" anchor="ctr"/>
          <a:lstStyle/>
          <a:p>
            <a:pPr marL="0" indent="0" algn="ctr">
              <a:buNone/>
            </a:pPr>
            <a:r>
              <a:rPr lang="en-US" sz="3000" b="1" dirty="0">
                <a:solidFill>
                  <a:srgbClr val="1C2333"/>
                </a:solidFill>
                <a:latin typeface="Calibri" pitchFamily="34" charset="0"/>
                <a:ea typeface="Calibri" pitchFamily="34" charset="-122"/>
                <a:cs typeface="Calibri" pitchFamily="34" charset="-120"/>
              </a:rPr>
              <a:t>&gt; 100 ошибок</a:t>
            </a:r>
            <a:endParaRPr lang="en-US" sz="3000" dirty="0"/>
          </a:p>
          <a:p>
            <a:pPr marL="0" indent="0" algn="ctr">
              <a:buNone/>
            </a:pPr>
            <a:r>
              <a:rPr lang="en-US" sz="3000" b="1" dirty="0">
                <a:solidFill>
                  <a:srgbClr val="1C2333"/>
                </a:solidFill>
                <a:latin typeface="Calibri" pitchFamily="34" charset="0"/>
                <a:ea typeface="Calibri" pitchFamily="34" charset="-122"/>
                <a:cs typeface="Calibri" pitchFamily="34" charset="-120"/>
              </a:rPr>
              <a:t>за 5 минут</a:t>
            </a:r>
            <a:endParaRPr lang="en-US" sz="3000" dirty="0"/>
          </a:p>
        </p:txBody>
      </p:sp>
      <p:sp>
        <p:nvSpPr>
          <p:cNvPr id="10" name="Text 5"/>
          <p:cNvSpPr txBox="1"/>
          <p:nvPr/>
        </p:nvSpPr>
        <p:spPr>
          <a:xfrm>
            <a:off x="7863840" y="4937760"/>
            <a:ext cx="3657600" cy="822960"/>
          </a:xfrm>
          <a:prstGeom prst="rect">
            <a:avLst/>
          </a:prstGeom>
          <a:noFill/>
          <a:ln/>
        </p:spPr>
        <p:txBody>
          <a:bodyPr wrap="square" lIns="0" tIns="0" rIns="0" bIns="0" rtlCol="0" anchor="ctr"/>
          <a:lstStyle/>
          <a:p>
            <a:pPr marL="0" indent="0" algn="ctr">
              <a:buNone/>
            </a:pPr>
            <a:r>
              <a:rPr lang="en-US" sz="3000" dirty="0">
                <a:solidFill>
                  <a:srgbClr val="5B6477"/>
                </a:solidFill>
                <a:latin typeface="Calibri" pitchFamily="34" charset="0"/>
                <a:ea typeface="Calibri" pitchFamily="34" charset="-122"/>
                <a:cs typeface="Calibri" pitchFamily="34" charset="-120"/>
              </a:rPr>
              <a:t>→ Telegram</a:t>
            </a:r>
            <a:endParaRPr lang="en-US" sz="3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11247120" y="6309360"/>
            <a:ext cx="640080" cy="365760"/>
          </a:xfrm>
          <a:prstGeom prst="rect">
            <a:avLst/>
          </a:prstGeom>
          <a:noFill/>
          <a:ln/>
        </p:spPr>
        <p:txBody>
          <a:bodyPr wrap="square" lIns="0" tIns="0" rIns="0" bIns="0" rtlCol="0" anchor="ctr"/>
          <a:lstStyle/>
          <a:p>
            <a:pPr marL="0" indent="0" algn="r">
              <a:buNone/>
            </a:pPr>
            <a:r>
              <a:rPr lang="en-US" sz="1400" dirty="0">
                <a:solidFill>
                  <a:srgbClr val="8A93AD"/>
                </a:solidFill>
                <a:latin typeface="Calibri" pitchFamily="34" charset="0"/>
                <a:ea typeface="Calibri" pitchFamily="34" charset="-122"/>
                <a:cs typeface="Calibri" pitchFamily="34" charset="-120"/>
              </a:rPr>
              <a:t>14</a:t>
            </a:r>
            <a:endParaRPr lang="en-US" sz="1400" dirty="0"/>
          </a:p>
        </p:txBody>
      </p:sp>
      <p:sp>
        <p:nvSpPr>
          <p:cNvPr id="4" name="Text 1"/>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4000" b="1" dirty="0">
                <a:solidFill>
                  <a:srgbClr val="15213F"/>
                </a:solidFill>
                <a:latin typeface="Arial" pitchFamily="34" charset="0"/>
                <a:ea typeface="Arial" pitchFamily="34" charset="-122"/>
                <a:cs typeface="Arial" pitchFamily="34" charset="-120"/>
              </a:rPr>
              <a:t>Пример 3: защита от атак (SIEM)</a:t>
            </a:r>
            <a:endParaRPr lang="en-US" sz="4000" dirty="0"/>
          </a:p>
        </p:txBody>
      </p:sp>
      <p:sp>
        <p:nvSpPr>
          <p:cNvPr id="5" name="Text 2"/>
          <p:cNvSpPr txBox="1"/>
          <p:nvPr/>
        </p:nvSpPr>
        <p:spPr>
          <a:xfrm>
            <a:off x="548640" y="1280160"/>
            <a:ext cx="6858000" cy="640080"/>
          </a:xfrm>
          <a:prstGeom prst="rect">
            <a:avLst/>
          </a:prstGeom>
          <a:noFill/>
          <a:ln/>
        </p:spPr>
        <p:txBody>
          <a:bodyPr wrap="square" lIns="0" tIns="0" rIns="0" bIns="0" rtlCol="0" anchor="ctr"/>
          <a:lstStyle/>
          <a:p>
            <a:pPr marL="0" indent="0">
              <a:buNone/>
            </a:pPr>
            <a:r>
              <a:rPr lang="en-US" sz="2400" dirty="0">
                <a:solidFill>
                  <a:srgbClr val="5B6477"/>
                </a:solidFill>
                <a:latin typeface="Calibri" pitchFamily="34" charset="0"/>
                <a:ea typeface="Calibri" pitchFamily="34" charset="-122"/>
                <a:cs typeface="Calibri" pitchFamily="34" charset="-120"/>
              </a:rPr>
              <a:t>Неудачные входы за минуту</a:t>
            </a:r>
            <a:endParaRPr lang="en-US" sz="2400" dirty="0"/>
          </a:p>
        </p:txBody>
      </p:sp>
      <p:sp>
        <p:nvSpPr>
          <p:cNvPr id="6" name="Shape 3"/>
          <p:cNvSpPr/>
          <p:nvPr/>
        </p:nvSpPr>
        <p:spPr>
          <a:xfrm>
            <a:off x="822960" y="5429644"/>
            <a:ext cx="777240" cy="239636"/>
          </a:xfrm>
          <a:prstGeom prst="rect">
            <a:avLst/>
          </a:prstGeom>
          <a:solidFill>
            <a:srgbClr val="B9C3D3"/>
          </a:solidFill>
          <a:ln w="12700">
            <a:solidFill>
              <a:srgbClr val="B9C3D3"/>
            </a:solidFill>
            <a:prstDash val="solid"/>
          </a:ln>
        </p:spPr>
      </p:sp>
      <p:sp>
        <p:nvSpPr>
          <p:cNvPr id="7" name="Text 4"/>
          <p:cNvSpPr txBox="1"/>
          <p:nvPr/>
        </p:nvSpPr>
        <p:spPr>
          <a:xfrm>
            <a:off x="640080" y="5760720"/>
            <a:ext cx="1143000" cy="457200"/>
          </a:xfrm>
          <a:prstGeom prst="rect">
            <a:avLst/>
          </a:prstGeom>
          <a:noFill/>
          <a:ln/>
        </p:spPr>
        <p:txBody>
          <a:bodyPr wrap="square" lIns="0" tIns="0" rIns="0" bIns="0" rtlCol="0" anchor="ctr"/>
          <a:lstStyle/>
          <a:p>
            <a:pPr marL="0" indent="0" algn="ctr">
              <a:buNone/>
            </a:pPr>
            <a:r>
              <a:rPr lang="en-US" sz="1800" dirty="0">
                <a:solidFill>
                  <a:srgbClr val="5B6477"/>
                </a:solidFill>
                <a:latin typeface="Calibri" pitchFamily="34" charset="0"/>
                <a:ea typeface="Calibri" pitchFamily="34" charset="-122"/>
                <a:cs typeface="Calibri" pitchFamily="34" charset="-120"/>
              </a:rPr>
              <a:t>IP 1</a:t>
            </a:r>
            <a:endParaRPr lang="en-US" sz="1800" dirty="0"/>
          </a:p>
        </p:txBody>
      </p:sp>
      <p:sp>
        <p:nvSpPr>
          <p:cNvPr id="8" name="Text 5"/>
          <p:cNvSpPr txBox="1"/>
          <p:nvPr/>
        </p:nvSpPr>
        <p:spPr>
          <a:xfrm>
            <a:off x="640080" y="4972444"/>
            <a:ext cx="1143000" cy="457200"/>
          </a:xfrm>
          <a:prstGeom prst="rect">
            <a:avLst/>
          </a:prstGeom>
          <a:noFill/>
          <a:ln/>
        </p:spPr>
        <p:txBody>
          <a:bodyPr wrap="square" lIns="0" tIns="0" rIns="0" bIns="0" rtlCol="0" anchor="ctr"/>
          <a:lstStyle/>
          <a:p>
            <a:pPr marL="0" indent="0" algn="ctr">
              <a:buNone/>
            </a:pPr>
            <a:r>
              <a:rPr lang="en-US" sz="2200" b="1" dirty="0">
                <a:solidFill>
                  <a:srgbClr val="5B6477"/>
                </a:solidFill>
                <a:latin typeface="Calibri" pitchFamily="34" charset="0"/>
                <a:ea typeface="Calibri" pitchFamily="34" charset="-122"/>
                <a:cs typeface="Calibri" pitchFamily="34" charset="-120"/>
              </a:rPr>
              <a:t>4</a:t>
            </a:r>
            <a:endParaRPr lang="en-US" sz="2200" dirty="0"/>
          </a:p>
        </p:txBody>
      </p:sp>
      <p:sp>
        <p:nvSpPr>
          <p:cNvPr id="9" name="Shape 6"/>
          <p:cNvSpPr/>
          <p:nvPr/>
        </p:nvSpPr>
        <p:spPr>
          <a:xfrm>
            <a:off x="1920240" y="5309826"/>
            <a:ext cx="777240" cy="359454"/>
          </a:xfrm>
          <a:prstGeom prst="rect">
            <a:avLst/>
          </a:prstGeom>
          <a:solidFill>
            <a:srgbClr val="B9C3D3"/>
          </a:solidFill>
          <a:ln w="12700">
            <a:solidFill>
              <a:srgbClr val="B9C3D3"/>
            </a:solidFill>
            <a:prstDash val="solid"/>
          </a:ln>
        </p:spPr>
      </p:sp>
      <p:sp>
        <p:nvSpPr>
          <p:cNvPr id="10" name="Text 7"/>
          <p:cNvSpPr txBox="1"/>
          <p:nvPr/>
        </p:nvSpPr>
        <p:spPr>
          <a:xfrm>
            <a:off x="1737360" y="5760720"/>
            <a:ext cx="1143000" cy="457200"/>
          </a:xfrm>
          <a:prstGeom prst="rect">
            <a:avLst/>
          </a:prstGeom>
          <a:noFill/>
          <a:ln/>
        </p:spPr>
        <p:txBody>
          <a:bodyPr wrap="square" lIns="0" tIns="0" rIns="0" bIns="0" rtlCol="0" anchor="ctr"/>
          <a:lstStyle/>
          <a:p>
            <a:pPr marL="0" indent="0" algn="ctr">
              <a:buNone/>
            </a:pPr>
            <a:r>
              <a:rPr lang="en-US" sz="1800" dirty="0">
                <a:solidFill>
                  <a:srgbClr val="5B6477"/>
                </a:solidFill>
                <a:latin typeface="Calibri" pitchFamily="34" charset="0"/>
                <a:ea typeface="Calibri" pitchFamily="34" charset="-122"/>
                <a:cs typeface="Calibri" pitchFamily="34" charset="-120"/>
              </a:rPr>
              <a:t>IP 2</a:t>
            </a:r>
            <a:endParaRPr lang="en-US" sz="1800" dirty="0"/>
          </a:p>
        </p:txBody>
      </p:sp>
      <p:sp>
        <p:nvSpPr>
          <p:cNvPr id="11" name="Text 8"/>
          <p:cNvSpPr txBox="1"/>
          <p:nvPr/>
        </p:nvSpPr>
        <p:spPr>
          <a:xfrm>
            <a:off x="1737360" y="4852626"/>
            <a:ext cx="1143000" cy="457200"/>
          </a:xfrm>
          <a:prstGeom prst="rect">
            <a:avLst/>
          </a:prstGeom>
          <a:noFill/>
          <a:ln/>
        </p:spPr>
        <p:txBody>
          <a:bodyPr wrap="square" lIns="0" tIns="0" rIns="0" bIns="0" rtlCol="0" anchor="ctr"/>
          <a:lstStyle/>
          <a:p>
            <a:pPr marL="0" indent="0" algn="ctr">
              <a:buNone/>
            </a:pPr>
            <a:r>
              <a:rPr lang="en-US" sz="2200" b="1" dirty="0">
                <a:solidFill>
                  <a:srgbClr val="5B6477"/>
                </a:solidFill>
                <a:latin typeface="Calibri" pitchFamily="34" charset="0"/>
                <a:ea typeface="Calibri" pitchFamily="34" charset="-122"/>
                <a:cs typeface="Calibri" pitchFamily="34" charset="-120"/>
              </a:rPr>
              <a:t>6</a:t>
            </a:r>
            <a:endParaRPr lang="en-US" sz="2200" dirty="0"/>
          </a:p>
        </p:txBody>
      </p:sp>
      <p:sp>
        <p:nvSpPr>
          <p:cNvPr id="12" name="Shape 9"/>
          <p:cNvSpPr/>
          <p:nvPr/>
        </p:nvSpPr>
        <p:spPr>
          <a:xfrm>
            <a:off x="3017520" y="5489553"/>
            <a:ext cx="777240" cy="179727"/>
          </a:xfrm>
          <a:prstGeom prst="rect">
            <a:avLst/>
          </a:prstGeom>
          <a:solidFill>
            <a:srgbClr val="B9C3D3"/>
          </a:solidFill>
          <a:ln w="12700">
            <a:solidFill>
              <a:srgbClr val="B9C3D3"/>
            </a:solidFill>
            <a:prstDash val="solid"/>
          </a:ln>
        </p:spPr>
      </p:sp>
      <p:sp>
        <p:nvSpPr>
          <p:cNvPr id="13" name="Text 10"/>
          <p:cNvSpPr txBox="1"/>
          <p:nvPr/>
        </p:nvSpPr>
        <p:spPr>
          <a:xfrm>
            <a:off x="2834640" y="5760720"/>
            <a:ext cx="1143000" cy="457200"/>
          </a:xfrm>
          <a:prstGeom prst="rect">
            <a:avLst/>
          </a:prstGeom>
          <a:noFill/>
          <a:ln/>
        </p:spPr>
        <p:txBody>
          <a:bodyPr wrap="square" lIns="0" tIns="0" rIns="0" bIns="0" rtlCol="0" anchor="ctr"/>
          <a:lstStyle/>
          <a:p>
            <a:pPr marL="0" indent="0" algn="ctr">
              <a:buNone/>
            </a:pPr>
            <a:r>
              <a:rPr lang="en-US" sz="1800" dirty="0">
                <a:solidFill>
                  <a:srgbClr val="5B6477"/>
                </a:solidFill>
                <a:latin typeface="Calibri" pitchFamily="34" charset="0"/>
                <a:ea typeface="Calibri" pitchFamily="34" charset="-122"/>
                <a:cs typeface="Calibri" pitchFamily="34" charset="-120"/>
              </a:rPr>
              <a:t>IP 3</a:t>
            </a:r>
            <a:endParaRPr lang="en-US" sz="1800" dirty="0"/>
          </a:p>
        </p:txBody>
      </p:sp>
      <p:sp>
        <p:nvSpPr>
          <p:cNvPr id="14" name="Text 11"/>
          <p:cNvSpPr txBox="1"/>
          <p:nvPr/>
        </p:nvSpPr>
        <p:spPr>
          <a:xfrm>
            <a:off x="2834640" y="5032353"/>
            <a:ext cx="1143000" cy="457200"/>
          </a:xfrm>
          <a:prstGeom prst="rect">
            <a:avLst/>
          </a:prstGeom>
          <a:noFill/>
          <a:ln/>
        </p:spPr>
        <p:txBody>
          <a:bodyPr wrap="square" lIns="0" tIns="0" rIns="0" bIns="0" rtlCol="0" anchor="ctr"/>
          <a:lstStyle/>
          <a:p>
            <a:pPr marL="0" indent="0" algn="ctr">
              <a:buNone/>
            </a:pPr>
            <a:r>
              <a:rPr lang="en-US" sz="2200" b="1" dirty="0">
                <a:solidFill>
                  <a:srgbClr val="5B6477"/>
                </a:solidFill>
                <a:latin typeface="Calibri" pitchFamily="34" charset="0"/>
                <a:ea typeface="Calibri" pitchFamily="34" charset="-122"/>
                <a:cs typeface="Calibri" pitchFamily="34" charset="-120"/>
              </a:rPr>
              <a:t>3</a:t>
            </a:r>
            <a:endParaRPr lang="en-US" sz="2200" dirty="0"/>
          </a:p>
        </p:txBody>
      </p:sp>
      <p:sp>
        <p:nvSpPr>
          <p:cNvPr id="15" name="Shape 12"/>
          <p:cNvSpPr/>
          <p:nvPr/>
        </p:nvSpPr>
        <p:spPr>
          <a:xfrm>
            <a:off x="4114800" y="2194560"/>
            <a:ext cx="777240" cy="3474720"/>
          </a:xfrm>
          <a:prstGeom prst="rect">
            <a:avLst/>
          </a:prstGeom>
          <a:solidFill>
            <a:srgbClr val="F04E98"/>
          </a:solidFill>
          <a:ln w="12700">
            <a:solidFill>
              <a:srgbClr val="F04E98"/>
            </a:solidFill>
            <a:prstDash val="solid"/>
          </a:ln>
        </p:spPr>
      </p:sp>
      <p:sp>
        <p:nvSpPr>
          <p:cNvPr id="16" name="Text 13"/>
          <p:cNvSpPr txBox="1"/>
          <p:nvPr/>
        </p:nvSpPr>
        <p:spPr>
          <a:xfrm>
            <a:off x="3931920" y="5760720"/>
            <a:ext cx="1143000" cy="457200"/>
          </a:xfrm>
          <a:prstGeom prst="rect">
            <a:avLst/>
          </a:prstGeom>
          <a:noFill/>
          <a:ln/>
        </p:spPr>
        <p:txBody>
          <a:bodyPr wrap="square" lIns="0" tIns="0" rIns="0" bIns="0" rtlCol="0" anchor="ctr"/>
          <a:lstStyle/>
          <a:p>
            <a:pPr marL="0" indent="0" algn="ctr">
              <a:buNone/>
            </a:pPr>
            <a:r>
              <a:rPr lang="en-US" sz="1800" dirty="0">
                <a:solidFill>
                  <a:srgbClr val="5B6477"/>
                </a:solidFill>
                <a:latin typeface="Calibri" pitchFamily="34" charset="0"/>
                <a:ea typeface="Calibri" pitchFamily="34" charset="-122"/>
                <a:cs typeface="Calibri" pitchFamily="34" charset="-120"/>
              </a:rPr>
              <a:t>IP 4</a:t>
            </a:r>
            <a:endParaRPr lang="en-US" sz="1800" dirty="0"/>
          </a:p>
        </p:txBody>
      </p:sp>
      <p:sp>
        <p:nvSpPr>
          <p:cNvPr id="17" name="Text 14"/>
          <p:cNvSpPr txBox="1"/>
          <p:nvPr/>
        </p:nvSpPr>
        <p:spPr>
          <a:xfrm>
            <a:off x="3931920" y="1737360"/>
            <a:ext cx="1143000" cy="457200"/>
          </a:xfrm>
          <a:prstGeom prst="rect">
            <a:avLst/>
          </a:prstGeom>
          <a:noFill/>
          <a:ln/>
        </p:spPr>
        <p:txBody>
          <a:bodyPr wrap="square" lIns="0" tIns="0" rIns="0" bIns="0" rtlCol="0" anchor="ctr"/>
          <a:lstStyle/>
          <a:p>
            <a:pPr marL="0" indent="0" algn="ctr">
              <a:buNone/>
            </a:pPr>
            <a:r>
              <a:rPr lang="en-US" sz="2200" b="1" dirty="0">
                <a:solidFill>
                  <a:srgbClr val="F04E98"/>
                </a:solidFill>
                <a:latin typeface="Calibri" pitchFamily="34" charset="0"/>
                <a:ea typeface="Calibri" pitchFamily="34" charset="-122"/>
                <a:cs typeface="Calibri" pitchFamily="34" charset="-120"/>
              </a:rPr>
              <a:t>58</a:t>
            </a:r>
            <a:endParaRPr lang="en-US" sz="2200" dirty="0"/>
          </a:p>
        </p:txBody>
      </p:sp>
      <p:sp>
        <p:nvSpPr>
          <p:cNvPr id="18" name="Shape 15"/>
          <p:cNvSpPr/>
          <p:nvPr/>
        </p:nvSpPr>
        <p:spPr>
          <a:xfrm>
            <a:off x="5212080" y="5369735"/>
            <a:ext cx="777240" cy="299545"/>
          </a:xfrm>
          <a:prstGeom prst="rect">
            <a:avLst/>
          </a:prstGeom>
          <a:solidFill>
            <a:srgbClr val="B9C3D3"/>
          </a:solidFill>
          <a:ln w="12700">
            <a:solidFill>
              <a:srgbClr val="B9C3D3"/>
            </a:solidFill>
            <a:prstDash val="solid"/>
          </a:ln>
        </p:spPr>
      </p:sp>
      <p:sp>
        <p:nvSpPr>
          <p:cNvPr id="19" name="Text 16"/>
          <p:cNvSpPr txBox="1"/>
          <p:nvPr/>
        </p:nvSpPr>
        <p:spPr>
          <a:xfrm>
            <a:off x="5029200" y="5760720"/>
            <a:ext cx="1143000" cy="457200"/>
          </a:xfrm>
          <a:prstGeom prst="rect">
            <a:avLst/>
          </a:prstGeom>
          <a:noFill/>
          <a:ln/>
        </p:spPr>
        <p:txBody>
          <a:bodyPr wrap="square" lIns="0" tIns="0" rIns="0" bIns="0" rtlCol="0" anchor="ctr"/>
          <a:lstStyle/>
          <a:p>
            <a:pPr marL="0" indent="0" algn="ctr">
              <a:buNone/>
            </a:pPr>
            <a:r>
              <a:rPr lang="en-US" sz="1800" dirty="0">
                <a:solidFill>
                  <a:srgbClr val="5B6477"/>
                </a:solidFill>
                <a:latin typeface="Calibri" pitchFamily="34" charset="0"/>
                <a:ea typeface="Calibri" pitchFamily="34" charset="-122"/>
                <a:cs typeface="Calibri" pitchFamily="34" charset="-120"/>
              </a:rPr>
              <a:t>IP 5</a:t>
            </a:r>
            <a:endParaRPr lang="en-US" sz="1800" dirty="0"/>
          </a:p>
        </p:txBody>
      </p:sp>
      <p:sp>
        <p:nvSpPr>
          <p:cNvPr id="20" name="Text 17"/>
          <p:cNvSpPr txBox="1"/>
          <p:nvPr/>
        </p:nvSpPr>
        <p:spPr>
          <a:xfrm>
            <a:off x="5029200" y="4912535"/>
            <a:ext cx="1143000" cy="457200"/>
          </a:xfrm>
          <a:prstGeom prst="rect">
            <a:avLst/>
          </a:prstGeom>
          <a:noFill/>
          <a:ln/>
        </p:spPr>
        <p:txBody>
          <a:bodyPr wrap="square" lIns="0" tIns="0" rIns="0" bIns="0" rtlCol="0" anchor="ctr"/>
          <a:lstStyle/>
          <a:p>
            <a:pPr marL="0" indent="0" algn="ctr">
              <a:buNone/>
            </a:pPr>
            <a:r>
              <a:rPr lang="en-US" sz="2200" b="1" dirty="0">
                <a:solidFill>
                  <a:srgbClr val="5B6477"/>
                </a:solidFill>
                <a:latin typeface="Calibri" pitchFamily="34" charset="0"/>
                <a:ea typeface="Calibri" pitchFamily="34" charset="-122"/>
                <a:cs typeface="Calibri" pitchFamily="34" charset="-120"/>
              </a:rPr>
              <a:t>5</a:t>
            </a:r>
            <a:endParaRPr lang="en-US" sz="2200" dirty="0"/>
          </a:p>
        </p:txBody>
      </p:sp>
      <p:sp>
        <p:nvSpPr>
          <p:cNvPr id="21" name="Shape 18"/>
          <p:cNvSpPr/>
          <p:nvPr/>
        </p:nvSpPr>
        <p:spPr>
          <a:xfrm>
            <a:off x="6309360" y="5549462"/>
            <a:ext cx="777240" cy="119818"/>
          </a:xfrm>
          <a:prstGeom prst="rect">
            <a:avLst/>
          </a:prstGeom>
          <a:solidFill>
            <a:srgbClr val="B9C3D3"/>
          </a:solidFill>
          <a:ln w="12700">
            <a:solidFill>
              <a:srgbClr val="B9C3D3"/>
            </a:solidFill>
            <a:prstDash val="solid"/>
          </a:ln>
        </p:spPr>
      </p:sp>
      <p:sp>
        <p:nvSpPr>
          <p:cNvPr id="22" name="Text 19"/>
          <p:cNvSpPr txBox="1"/>
          <p:nvPr/>
        </p:nvSpPr>
        <p:spPr>
          <a:xfrm>
            <a:off x="6126480" y="5760720"/>
            <a:ext cx="1143000" cy="457200"/>
          </a:xfrm>
          <a:prstGeom prst="rect">
            <a:avLst/>
          </a:prstGeom>
          <a:noFill/>
          <a:ln/>
        </p:spPr>
        <p:txBody>
          <a:bodyPr wrap="square" lIns="0" tIns="0" rIns="0" bIns="0" rtlCol="0" anchor="ctr"/>
          <a:lstStyle/>
          <a:p>
            <a:pPr marL="0" indent="0" algn="ctr">
              <a:buNone/>
            </a:pPr>
            <a:r>
              <a:rPr lang="en-US" sz="1800" dirty="0">
                <a:solidFill>
                  <a:srgbClr val="5B6477"/>
                </a:solidFill>
                <a:latin typeface="Calibri" pitchFamily="34" charset="0"/>
                <a:ea typeface="Calibri" pitchFamily="34" charset="-122"/>
                <a:cs typeface="Calibri" pitchFamily="34" charset="-120"/>
              </a:rPr>
              <a:t>IP 6</a:t>
            </a:r>
            <a:endParaRPr lang="en-US" sz="1800" dirty="0"/>
          </a:p>
        </p:txBody>
      </p:sp>
      <p:sp>
        <p:nvSpPr>
          <p:cNvPr id="23" name="Text 20"/>
          <p:cNvSpPr txBox="1"/>
          <p:nvPr/>
        </p:nvSpPr>
        <p:spPr>
          <a:xfrm>
            <a:off x="6126480" y="5092262"/>
            <a:ext cx="1143000" cy="457200"/>
          </a:xfrm>
          <a:prstGeom prst="rect">
            <a:avLst/>
          </a:prstGeom>
          <a:noFill/>
          <a:ln/>
        </p:spPr>
        <p:txBody>
          <a:bodyPr wrap="square" lIns="0" tIns="0" rIns="0" bIns="0" rtlCol="0" anchor="ctr"/>
          <a:lstStyle/>
          <a:p>
            <a:pPr marL="0" indent="0" algn="ctr">
              <a:buNone/>
            </a:pPr>
            <a:r>
              <a:rPr lang="en-US" sz="2200" b="1" dirty="0">
                <a:solidFill>
                  <a:srgbClr val="5B6477"/>
                </a:solidFill>
                <a:latin typeface="Calibri" pitchFamily="34" charset="0"/>
                <a:ea typeface="Calibri" pitchFamily="34" charset="-122"/>
                <a:cs typeface="Calibri" pitchFamily="34" charset="-120"/>
              </a:rPr>
              <a:t>2</a:t>
            </a:r>
            <a:endParaRPr lang="en-US" sz="2200" dirty="0"/>
          </a:p>
        </p:txBody>
      </p:sp>
      <p:sp>
        <p:nvSpPr>
          <p:cNvPr id="24" name="Shape 21"/>
          <p:cNvSpPr/>
          <p:nvPr/>
        </p:nvSpPr>
        <p:spPr>
          <a:xfrm>
            <a:off x="7589520" y="1554480"/>
            <a:ext cx="4023360" cy="4572000"/>
          </a:xfrm>
          <a:prstGeom prst="roundRect">
            <a:avLst>
              <a:gd name="adj" fmla="val 3409"/>
            </a:avLst>
          </a:prstGeom>
          <a:solidFill>
            <a:srgbClr val="15213F"/>
          </a:solidFill>
          <a:ln w="12700">
            <a:solidFill>
              <a:srgbClr val="15213F"/>
            </a:solidFill>
            <a:prstDash val="solid"/>
          </a:ln>
        </p:spPr>
      </p:sp>
      <p:sp>
        <p:nvSpPr>
          <p:cNvPr id="25" name="Shape 22"/>
          <p:cNvSpPr/>
          <p:nvPr/>
        </p:nvSpPr>
        <p:spPr>
          <a:xfrm>
            <a:off x="8869680" y="1828800"/>
            <a:ext cx="1463040" cy="1463040"/>
          </a:xfrm>
          <a:prstGeom prst="ellipse">
            <a:avLst/>
          </a:prstGeom>
          <a:solidFill>
            <a:srgbClr val="F04E98"/>
          </a:solidFill>
          <a:ln w="12700">
            <a:solidFill>
              <a:srgbClr val="F04E98"/>
            </a:solidFill>
            <a:prstDash val="solid"/>
          </a:ln>
        </p:spPr>
      </p:sp>
      <p:pic>
        <p:nvPicPr>
          <p:cNvPr id="26" name="Image 0" descr="preencoded.png"/>
          <p:cNvPicPr>
            <a:picLocks noChangeAspect="1"/>
          </p:cNvPicPr>
          <p:nvPr/>
        </p:nvPicPr>
        <p:blipFill>
          <a:blip r:embed="rId3"/>
          <a:stretch>
            <a:fillRect/>
          </a:stretch>
        </p:blipFill>
        <p:spPr>
          <a:xfrm>
            <a:off x="9235440" y="2194560"/>
            <a:ext cx="731520" cy="731520"/>
          </a:xfrm>
          <a:prstGeom prst="rect">
            <a:avLst/>
          </a:prstGeom>
        </p:spPr>
      </p:pic>
      <p:sp>
        <p:nvSpPr>
          <p:cNvPr id="27" name="Text 23"/>
          <p:cNvSpPr txBox="1"/>
          <p:nvPr/>
        </p:nvSpPr>
        <p:spPr>
          <a:xfrm>
            <a:off x="7680960" y="3474720"/>
            <a:ext cx="3840480" cy="201168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&gt; 50 попыток</a:t>
            </a:r>
            <a:endParaRPr lang="en-US" sz="3000" dirty="0"/>
          </a:p>
          <a:p>
            <a:pPr marL="0" indent="0" algn="ctr">
              <a:buNone/>
            </a:pPr>
            <a:r>
              <a:rPr lang="en-US" sz="3000" b="1" dirty="0">
                <a:solidFill>
                  <a:srgbClr val="FFFFFF"/>
                </a:solidFill>
                <a:latin typeface="Calibri" pitchFamily="34" charset="0"/>
                <a:ea typeface="Calibri" pitchFamily="34" charset="-122"/>
                <a:cs typeface="Calibri" pitchFamily="34" charset="-120"/>
              </a:rPr>
              <a:t>с 1 IP</a:t>
            </a:r>
            <a:endParaRPr lang="en-US" sz="3000" dirty="0"/>
          </a:p>
          <a:p>
            <a:pPr marL="0" indent="0" algn="ctr">
              <a:buNone/>
            </a:pPr>
            <a:r>
              <a:rPr lang="en-US" sz="3000" b="1" dirty="0">
                <a:solidFill>
                  <a:srgbClr val="FFFFFF"/>
                </a:solidFill>
                <a:latin typeface="Calibri" pitchFamily="34" charset="0"/>
                <a:ea typeface="Calibri" pitchFamily="34" charset="-122"/>
                <a:cs typeface="Calibri" pitchFamily="34" charset="-120"/>
              </a:rPr>
              <a:t>за 1 минуту</a:t>
            </a:r>
            <a:endParaRPr lang="en-US" sz="3000" dirty="0"/>
          </a:p>
        </p:txBody>
      </p:sp>
      <p:sp>
        <p:nvSpPr>
          <p:cNvPr id="28" name="Text 24"/>
          <p:cNvSpPr txBox="1"/>
          <p:nvPr/>
        </p:nvSpPr>
        <p:spPr>
          <a:xfrm>
            <a:off x="7680960" y="5394960"/>
            <a:ext cx="3840480" cy="548640"/>
          </a:xfrm>
          <a:prstGeom prst="rect">
            <a:avLst/>
          </a:prstGeom>
          <a:noFill/>
          <a:ln/>
        </p:spPr>
        <p:txBody>
          <a:bodyPr wrap="square" lIns="0" tIns="0" rIns="0" bIns="0" rtlCol="0" anchor="ctr"/>
          <a:lstStyle/>
          <a:p>
            <a:pPr marL="0" indent="0" algn="ctr">
              <a:buNone/>
            </a:pPr>
            <a:r>
              <a:rPr lang="en-US" sz="2400" dirty="0">
                <a:solidFill>
                  <a:srgbClr val="CADCFC"/>
                </a:solidFill>
                <a:latin typeface="Calibri" pitchFamily="34" charset="0"/>
                <a:ea typeface="Calibri" pitchFamily="34" charset="-122"/>
                <a:cs typeface="Calibri" pitchFamily="34" charset="-120"/>
              </a:rPr>
              <a:t>+ ML-аномалии</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3" name="Text 0"/>
          <p:cNvSpPr txBox="1"/>
          <p:nvPr/>
        </p:nvSpPr>
        <p:spPr>
          <a:xfrm>
            <a:off x="11247120" y="6309360"/>
            <a:ext cx="640080" cy="365760"/>
          </a:xfrm>
          <a:prstGeom prst="rect">
            <a:avLst/>
          </a:prstGeom>
          <a:noFill/>
          <a:ln/>
        </p:spPr>
        <p:txBody>
          <a:bodyPr wrap="square" lIns="0" tIns="0" rIns="0" bIns="0" rtlCol="0" anchor="ctr"/>
          <a:lstStyle/>
          <a:p>
            <a:pPr marL="0" indent="0" algn="r">
              <a:buNone/>
            </a:pPr>
            <a:r>
              <a:rPr lang="en-US" sz="1400" dirty="0">
                <a:solidFill>
                  <a:srgbClr val="8A93AD"/>
                </a:solidFill>
                <a:latin typeface="Calibri" pitchFamily="34" charset="0"/>
                <a:ea typeface="Calibri" pitchFamily="34" charset="-122"/>
                <a:cs typeface="Calibri" pitchFamily="34" charset="-120"/>
              </a:rPr>
              <a:t>15</a:t>
            </a:r>
            <a:endParaRPr lang="en-US" sz="1400" dirty="0"/>
          </a:p>
        </p:txBody>
      </p:sp>
      <p:sp>
        <p:nvSpPr>
          <p:cNvPr id="4" name="Text 1"/>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4000" b="1" dirty="0">
                <a:solidFill>
                  <a:srgbClr val="15213F"/>
                </a:solidFill>
                <a:latin typeface="Arial" pitchFamily="34" charset="0"/>
                <a:ea typeface="Arial" pitchFamily="34" charset="-122"/>
                <a:cs typeface="Arial" pitchFamily="34" charset="-120"/>
              </a:rPr>
              <a:t>Альтернативы и пользователи</a:t>
            </a:r>
            <a:endParaRPr lang="en-US" sz="4000" dirty="0"/>
          </a:p>
        </p:txBody>
      </p:sp>
      <p:sp>
        <p:nvSpPr>
          <p:cNvPr id="5" name="Shape 2"/>
          <p:cNvSpPr/>
          <p:nvPr/>
        </p:nvSpPr>
        <p:spPr>
          <a:xfrm>
            <a:off x="548640" y="1463040"/>
            <a:ext cx="3657600" cy="4754880"/>
          </a:xfrm>
          <a:prstGeom prst="roundRect">
            <a:avLst>
              <a:gd name="adj" fmla="val 3750"/>
            </a:avLst>
          </a:prstGeom>
          <a:solidFill>
            <a:srgbClr val="E3F6F4"/>
          </a:solidFill>
          <a:ln w="12700">
            <a:solidFill>
              <a:srgbClr val="E3F6F4"/>
            </a:solidFill>
            <a:prstDash val="solid"/>
          </a:ln>
        </p:spPr>
      </p:sp>
      <p:sp>
        <p:nvSpPr>
          <p:cNvPr id="6" name="Shape 3"/>
          <p:cNvSpPr/>
          <p:nvPr/>
        </p:nvSpPr>
        <p:spPr>
          <a:xfrm>
            <a:off x="1600200" y="1737360"/>
            <a:ext cx="1554480" cy="1554480"/>
          </a:xfrm>
          <a:prstGeom prst="ellipse">
            <a:avLst/>
          </a:prstGeom>
          <a:solidFill>
            <a:srgbClr val="00A79D"/>
          </a:solidFill>
          <a:ln w="12700">
            <a:solidFill>
              <a:srgbClr val="00A79D"/>
            </a:solidFill>
            <a:prstDash val="solid"/>
          </a:ln>
        </p:spPr>
      </p:sp>
      <p:pic>
        <p:nvPicPr>
          <p:cNvPr id="7" name="Image 0" descr="preencoded.png"/>
          <p:cNvPicPr>
            <a:picLocks noChangeAspect="1"/>
          </p:cNvPicPr>
          <p:nvPr/>
        </p:nvPicPr>
        <p:blipFill>
          <a:blip r:embed="rId3"/>
          <a:stretch>
            <a:fillRect/>
          </a:stretch>
        </p:blipFill>
        <p:spPr>
          <a:xfrm>
            <a:off x="1988820" y="2125980"/>
            <a:ext cx="777240" cy="777240"/>
          </a:xfrm>
          <a:prstGeom prst="rect">
            <a:avLst/>
          </a:prstGeom>
        </p:spPr>
      </p:pic>
      <p:sp>
        <p:nvSpPr>
          <p:cNvPr id="8" name="Text 4"/>
          <p:cNvSpPr txBox="1"/>
          <p:nvPr/>
        </p:nvSpPr>
        <p:spPr>
          <a:xfrm>
            <a:off x="548640" y="3474720"/>
            <a:ext cx="3657600" cy="822960"/>
          </a:xfrm>
          <a:prstGeom prst="rect">
            <a:avLst/>
          </a:prstGeom>
          <a:noFill/>
          <a:ln/>
        </p:spPr>
        <p:txBody>
          <a:bodyPr wrap="square" lIns="0" tIns="0" rIns="0" bIns="0" rtlCol="0" anchor="ctr"/>
          <a:lstStyle/>
          <a:p>
            <a:pPr marL="0" indent="0" algn="ctr">
              <a:buNone/>
            </a:pPr>
            <a:r>
              <a:rPr lang="en-US" sz="3400" b="1" dirty="0">
                <a:solidFill>
                  <a:srgbClr val="1C2333"/>
                </a:solidFill>
                <a:latin typeface="Arial" pitchFamily="34" charset="0"/>
                <a:ea typeface="Arial" pitchFamily="34" charset="-122"/>
                <a:cs typeface="Arial" pitchFamily="34" charset="-120"/>
              </a:rPr>
              <a:t>Elastic</a:t>
            </a:r>
            <a:endParaRPr lang="en-US" sz="3400" dirty="0"/>
          </a:p>
        </p:txBody>
      </p:sp>
      <p:sp>
        <p:nvSpPr>
          <p:cNvPr id="9" name="Text 5"/>
          <p:cNvSpPr txBox="1"/>
          <p:nvPr/>
        </p:nvSpPr>
        <p:spPr>
          <a:xfrm>
            <a:off x="731520" y="4297680"/>
            <a:ext cx="3291840" cy="1645920"/>
          </a:xfrm>
          <a:prstGeom prst="rect">
            <a:avLst/>
          </a:prstGeom>
          <a:noFill/>
          <a:ln/>
        </p:spPr>
        <p:txBody>
          <a:bodyPr wrap="square" lIns="0" tIns="0" rIns="0" bIns="0" rtlCol="0" anchor="ctr"/>
          <a:lstStyle/>
          <a:p>
            <a:pPr marL="0" indent="0" algn="ctr">
              <a:buNone/>
            </a:pPr>
            <a:r>
              <a:rPr lang="en-US" sz="2600" dirty="0">
                <a:solidFill>
                  <a:srgbClr val="5B6477"/>
                </a:solidFill>
                <a:latin typeface="Calibri" pitchFamily="34" charset="0"/>
                <a:ea typeface="Calibri" pitchFamily="34" charset="-122"/>
                <a:cs typeface="Calibri" pitchFamily="34" charset="-120"/>
              </a:rPr>
              <a:t>магазины · стриминг · финансы · транспорт</a:t>
            </a:r>
            <a:endParaRPr lang="en-US" sz="2600" dirty="0"/>
          </a:p>
        </p:txBody>
      </p:sp>
      <p:sp>
        <p:nvSpPr>
          <p:cNvPr id="10" name="Shape 6"/>
          <p:cNvSpPr/>
          <p:nvPr/>
        </p:nvSpPr>
        <p:spPr>
          <a:xfrm>
            <a:off x="4663440" y="1463040"/>
            <a:ext cx="6949440" cy="1417320"/>
          </a:xfrm>
          <a:prstGeom prst="roundRect">
            <a:avLst>
              <a:gd name="adj" fmla="val 9677"/>
            </a:avLst>
          </a:prstGeom>
          <a:solidFill>
            <a:srgbClr val="F3F6FA"/>
          </a:solidFill>
          <a:ln w="12700">
            <a:solidFill>
              <a:srgbClr val="F3F6FA"/>
            </a:solidFill>
            <a:prstDash val="solid"/>
          </a:ln>
        </p:spPr>
      </p:sp>
      <p:sp>
        <p:nvSpPr>
          <p:cNvPr id="11" name="Shape 7"/>
          <p:cNvSpPr/>
          <p:nvPr/>
        </p:nvSpPr>
        <p:spPr>
          <a:xfrm>
            <a:off x="4892040" y="1828800"/>
            <a:ext cx="685800" cy="685800"/>
          </a:xfrm>
          <a:prstGeom prst="ellipse">
            <a:avLst/>
          </a:prstGeom>
          <a:solidFill>
            <a:srgbClr val="0B64DD"/>
          </a:solidFill>
          <a:ln w="12700">
            <a:solidFill>
              <a:srgbClr val="0B64DD"/>
            </a:solidFill>
            <a:prstDash val="solid"/>
          </a:ln>
        </p:spPr>
      </p:sp>
      <p:sp>
        <p:nvSpPr>
          <p:cNvPr id="12" name="Text 8"/>
          <p:cNvSpPr txBox="1"/>
          <p:nvPr/>
        </p:nvSpPr>
        <p:spPr>
          <a:xfrm>
            <a:off x="5806440" y="1508760"/>
            <a:ext cx="5577840" cy="685800"/>
          </a:xfrm>
          <a:prstGeom prst="rect">
            <a:avLst/>
          </a:prstGeom>
          <a:noFill/>
          <a:ln/>
        </p:spPr>
        <p:txBody>
          <a:bodyPr wrap="square" lIns="0" tIns="0" rIns="0" bIns="0" rtlCol="0" anchor="ctr"/>
          <a:lstStyle/>
          <a:p>
            <a:pPr marL="0" indent="0">
              <a:buNone/>
            </a:pPr>
            <a:r>
              <a:rPr lang="en-US" sz="3000" b="1" dirty="0">
                <a:solidFill>
                  <a:srgbClr val="1C2333"/>
                </a:solidFill>
                <a:latin typeface="Calibri" pitchFamily="34" charset="0"/>
                <a:ea typeface="Calibri" pitchFamily="34" charset="-122"/>
                <a:cs typeface="Calibri" pitchFamily="34" charset="-120"/>
              </a:rPr>
              <a:t>OpenSearch</a:t>
            </a:r>
            <a:endParaRPr lang="en-US" sz="3000" dirty="0"/>
          </a:p>
        </p:txBody>
      </p:sp>
      <p:sp>
        <p:nvSpPr>
          <p:cNvPr id="13" name="Text 9"/>
          <p:cNvSpPr txBox="1"/>
          <p:nvPr/>
        </p:nvSpPr>
        <p:spPr>
          <a:xfrm>
            <a:off x="5806440" y="2148840"/>
            <a:ext cx="5577840" cy="640080"/>
          </a:xfrm>
          <a:prstGeom prst="rect">
            <a:avLst/>
          </a:prstGeom>
          <a:noFill/>
          <a:ln/>
        </p:spPr>
        <p:txBody>
          <a:bodyPr wrap="square" lIns="0" tIns="0" rIns="0" bIns="0" rtlCol="0" anchor="ctr"/>
          <a:lstStyle/>
          <a:p>
            <a:pPr marL="0" indent="0">
              <a:buNone/>
            </a:pPr>
            <a:r>
              <a:rPr lang="en-US" sz="2600" dirty="0">
                <a:solidFill>
                  <a:srgbClr val="5B6477"/>
                </a:solidFill>
                <a:latin typeface="Calibri" pitchFamily="34" charset="0"/>
                <a:ea typeface="Calibri" pitchFamily="34" charset="-122"/>
                <a:cs typeface="Calibri" pitchFamily="34" charset="-120"/>
              </a:rPr>
              <a:t>форк от Amazon, 2021</a:t>
            </a:r>
            <a:endParaRPr lang="en-US" sz="2600" dirty="0"/>
          </a:p>
        </p:txBody>
      </p:sp>
      <p:sp>
        <p:nvSpPr>
          <p:cNvPr id="14" name="Shape 10"/>
          <p:cNvSpPr/>
          <p:nvPr/>
        </p:nvSpPr>
        <p:spPr>
          <a:xfrm>
            <a:off x="4663440" y="3108960"/>
            <a:ext cx="6949440" cy="1417320"/>
          </a:xfrm>
          <a:prstGeom prst="roundRect">
            <a:avLst>
              <a:gd name="adj" fmla="val 9677"/>
            </a:avLst>
          </a:prstGeom>
          <a:solidFill>
            <a:srgbClr val="F3F6FA"/>
          </a:solidFill>
          <a:ln w="12700">
            <a:solidFill>
              <a:srgbClr val="F3F6FA"/>
            </a:solidFill>
            <a:prstDash val="solid"/>
          </a:ln>
        </p:spPr>
      </p:sp>
      <p:sp>
        <p:nvSpPr>
          <p:cNvPr id="15" name="Shape 11"/>
          <p:cNvSpPr/>
          <p:nvPr/>
        </p:nvSpPr>
        <p:spPr>
          <a:xfrm>
            <a:off x="4892040" y="3474720"/>
            <a:ext cx="685800" cy="685800"/>
          </a:xfrm>
          <a:prstGeom prst="ellipse">
            <a:avLst/>
          </a:prstGeom>
          <a:solidFill>
            <a:srgbClr val="FEC514"/>
          </a:solidFill>
          <a:ln w="12700">
            <a:solidFill>
              <a:srgbClr val="FEC514"/>
            </a:solidFill>
            <a:prstDash val="solid"/>
          </a:ln>
        </p:spPr>
      </p:sp>
      <p:sp>
        <p:nvSpPr>
          <p:cNvPr id="16" name="Text 12"/>
          <p:cNvSpPr txBox="1"/>
          <p:nvPr/>
        </p:nvSpPr>
        <p:spPr>
          <a:xfrm>
            <a:off x="5806440" y="3154680"/>
            <a:ext cx="5577840" cy="685800"/>
          </a:xfrm>
          <a:prstGeom prst="rect">
            <a:avLst/>
          </a:prstGeom>
          <a:noFill/>
          <a:ln/>
        </p:spPr>
        <p:txBody>
          <a:bodyPr wrap="square" lIns="0" tIns="0" rIns="0" bIns="0" rtlCol="0" anchor="ctr"/>
          <a:lstStyle/>
          <a:p>
            <a:pPr marL="0" indent="0">
              <a:buNone/>
            </a:pPr>
            <a:r>
              <a:rPr lang="en-US" sz="3000" b="1" dirty="0">
                <a:solidFill>
                  <a:srgbClr val="1C2333"/>
                </a:solidFill>
                <a:latin typeface="Calibri" pitchFamily="34" charset="0"/>
                <a:ea typeface="Calibri" pitchFamily="34" charset="-122"/>
                <a:cs typeface="Calibri" pitchFamily="34" charset="-120"/>
              </a:rPr>
              <a:t>Apache Solr</a:t>
            </a:r>
            <a:endParaRPr lang="en-US" sz="3000" dirty="0"/>
          </a:p>
        </p:txBody>
      </p:sp>
      <p:sp>
        <p:nvSpPr>
          <p:cNvPr id="17" name="Text 13"/>
          <p:cNvSpPr txBox="1"/>
          <p:nvPr/>
        </p:nvSpPr>
        <p:spPr>
          <a:xfrm>
            <a:off x="5806440" y="3794760"/>
            <a:ext cx="5577840" cy="640080"/>
          </a:xfrm>
          <a:prstGeom prst="rect">
            <a:avLst/>
          </a:prstGeom>
          <a:noFill/>
          <a:ln/>
        </p:spPr>
        <p:txBody>
          <a:bodyPr wrap="square" lIns="0" tIns="0" rIns="0" bIns="0" rtlCol="0" anchor="ctr"/>
          <a:lstStyle/>
          <a:p>
            <a:pPr marL="0" indent="0">
              <a:buNone/>
            </a:pPr>
            <a:r>
              <a:rPr lang="en-US" sz="2600" dirty="0">
                <a:solidFill>
                  <a:srgbClr val="5B6477"/>
                </a:solidFill>
                <a:latin typeface="Calibri" pitchFamily="34" charset="0"/>
                <a:ea typeface="Calibri" pitchFamily="34" charset="-122"/>
                <a:cs typeface="Calibri" pitchFamily="34" charset="-120"/>
              </a:rPr>
              <a:t>тоже на Lucene</a:t>
            </a:r>
            <a:endParaRPr lang="en-US" sz="2600" dirty="0"/>
          </a:p>
        </p:txBody>
      </p:sp>
      <p:sp>
        <p:nvSpPr>
          <p:cNvPr id="18" name="Shape 14"/>
          <p:cNvSpPr/>
          <p:nvPr/>
        </p:nvSpPr>
        <p:spPr>
          <a:xfrm>
            <a:off x="4663440" y="4754880"/>
            <a:ext cx="6949440" cy="1417320"/>
          </a:xfrm>
          <a:prstGeom prst="roundRect">
            <a:avLst>
              <a:gd name="adj" fmla="val 9677"/>
            </a:avLst>
          </a:prstGeom>
          <a:solidFill>
            <a:srgbClr val="F3F6FA"/>
          </a:solidFill>
          <a:ln w="12700">
            <a:solidFill>
              <a:srgbClr val="F3F6FA"/>
            </a:solidFill>
            <a:prstDash val="solid"/>
          </a:ln>
        </p:spPr>
      </p:sp>
      <p:sp>
        <p:nvSpPr>
          <p:cNvPr id="19" name="Shape 15"/>
          <p:cNvSpPr/>
          <p:nvPr/>
        </p:nvSpPr>
        <p:spPr>
          <a:xfrm>
            <a:off x="4892040" y="5120640"/>
            <a:ext cx="685800" cy="685800"/>
          </a:xfrm>
          <a:prstGeom prst="ellipse">
            <a:avLst/>
          </a:prstGeom>
          <a:solidFill>
            <a:srgbClr val="F04E98"/>
          </a:solidFill>
          <a:ln w="12700">
            <a:solidFill>
              <a:srgbClr val="F04E98"/>
            </a:solidFill>
            <a:prstDash val="solid"/>
          </a:ln>
        </p:spPr>
      </p:sp>
      <p:sp>
        <p:nvSpPr>
          <p:cNvPr id="20" name="Text 16"/>
          <p:cNvSpPr txBox="1"/>
          <p:nvPr/>
        </p:nvSpPr>
        <p:spPr>
          <a:xfrm>
            <a:off x="5806440" y="4800600"/>
            <a:ext cx="5577840" cy="685800"/>
          </a:xfrm>
          <a:prstGeom prst="rect">
            <a:avLst/>
          </a:prstGeom>
          <a:noFill/>
          <a:ln/>
        </p:spPr>
        <p:txBody>
          <a:bodyPr wrap="square" lIns="0" tIns="0" rIns="0" bIns="0" rtlCol="0" anchor="ctr"/>
          <a:lstStyle/>
          <a:p>
            <a:pPr marL="0" indent="0">
              <a:buNone/>
            </a:pPr>
            <a:r>
              <a:rPr lang="en-US" sz="3000" b="1" dirty="0">
                <a:solidFill>
                  <a:srgbClr val="1C2333"/>
                </a:solidFill>
                <a:latin typeface="Calibri" pitchFamily="34" charset="0"/>
                <a:ea typeface="Calibri" pitchFamily="34" charset="-122"/>
                <a:cs typeface="Calibri" pitchFamily="34" charset="-120"/>
              </a:rPr>
              <a:t>Splunk</a:t>
            </a:r>
            <a:endParaRPr lang="en-US" sz="3000" dirty="0"/>
          </a:p>
        </p:txBody>
      </p:sp>
      <p:sp>
        <p:nvSpPr>
          <p:cNvPr id="21" name="Text 17"/>
          <p:cNvSpPr txBox="1"/>
          <p:nvPr/>
        </p:nvSpPr>
        <p:spPr>
          <a:xfrm>
            <a:off x="5806440" y="5440680"/>
            <a:ext cx="5577840" cy="640080"/>
          </a:xfrm>
          <a:prstGeom prst="rect">
            <a:avLst/>
          </a:prstGeom>
          <a:noFill/>
          <a:ln/>
        </p:spPr>
        <p:txBody>
          <a:bodyPr wrap="square" lIns="0" tIns="0" rIns="0" bIns="0" rtlCol="0" anchor="ctr"/>
          <a:lstStyle/>
          <a:p>
            <a:pPr marL="0" indent="0">
              <a:buNone/>
            </a:pPr>
            <a:r>
              <a:rPr lang="en-US" sz="2600" dirty="0">
                <a:solidFill>
                  <a:srgbClr val="5B6477"/>
                </a:solidFill>
                <a:latin typeface="Calibri" pitchFamily="34" charset="0"/>
                <a:ea typeface="Calibri" pitchFamily="34" charset="-122"/>
                <a:cs typeface="Calibri" pitchFamily="34" charset="-120"/>
              </a:rPr>
              <a:t>платный, для логов</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213F"/>
        </a:solidFill>
        <a:effectLst/>
      </p:bgPr>
    </p:bg>
    <p:spTree>
      <p:nvGrpSpPr>
        <p:cNvPr id="1" name=""/>
        <p:cNvGrpSpPr/>
        <p:nvPr/>
      </p:nvGrpSpPr>
      <p:grpSpPr>
        <a:xfrm>
          <a:off x="0" y="0"/>
          <a:ext cx="0" cy="0"/>
          <a:chOff x="0" y="0"/>
          <a:chExt cx="0" cy="0"/>
        </a:xfrm>
      </p:grpSpPr>
      <p:sp>
        <p:nvSpPr>
          <p:cNvPr id="3" name="Text 0"/>
          <p:cNvSpPr txBox="1"/>
          <p:nvPr/>
        </p:nvSpPr>
        <p:spPr>
          <a:xfrm>
            <a:off x="11247120" y="6309360"/>
            <a:ext cx="640080" cy="365760"/>
          </a:xfrm>
          <a:prstGeom prst="rect">
            <a:avLst/>
          </a:prstGeom>
          <a:noFill/>
          <a:ln/>
        </p:spPr>
        <p:txBody>
          <a:bodyPr wrap="square" lIns="0" tIns="0" rIns="0" bIns="0" rtlCol="0" anchor="ctr"/>
          <a:lstStyle/>
          <a:p>
            <a:pPr marL="0" indent="0" algn="r">
              <a:buNone/>
            </a:pPr>
            <a:r>
              <a:rPr lang="en-US" sz="1400" dirty="0">
                <a:solidFill>
                  <a:srgbClr val="8A93AD"/>
                </a:solidFill>
                <a:latin typeface="Calibri" pitchFamily="34" charset="0"/>
                <a:ea typeface="Calibri" pitchFamily="34" charset="-122"/>
                <a:cs typeface="Calibri" pitchFamily="34" charset="-120"/>
              </a:rPr>
              <a:t>16</a:t>
            </a:r>
            <a:endParaRPr lang="en-US" sz="1400" dirty="0"/>
          </a:p>
        </p:txBody>
      </p:sp>
      <p:sp>
        <p:nvSpPr>
          <p:cNvPr id="4" name="Text 1"/>
          <p:cNvSpPr txBox="1"/>
          <p:nvPr/>
        </p:nvSpPr>
        <p:spPr>
          <a:xfrm>
            <a:off x="548640" y="320040"/>
            <a:ext cx="11064240" cy="91440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Выводы</a:t>
            </a:r>
            <a:endParaRPr lang="en-US" sz="4000" dirty="0"/>
          </a:p>
        </p:txBody>
      </p:sp>
      <p:sp>
        <p:nvSpPr>
          <p:cNvPr id="5" name="Shape 2"/>
          <p:cNvSpPr/>
          <p:nvPr/>
        </p:nvSpPr>
        <p:spPr>
          <a:xfrm>
            <a:off x="548640" y="1554480"/>
            <a:ext cx="5303520" cy="4023360"/>
          </a:xfrm>
          <a:prstGeom prst="roundRect">
            <a:avLst>
              <a:gd name="adj" fmla="val 3409"/>
            </a:avLst>
          </a:prstGeom>
          <a:solidFill>
            <a:srgbClr val="223056"/>
          </a:solidFill>
          <a:ln w="12700">
            <a:solidFill>
              <a:srgbClr val="223056"/>
            </a:solidFill>
            <a:prstDash val="solid"/>
          </a:ln>
        </p:spPr>
      </p:sp>
      <p:sp>
        <p:nvSpPr>
          <p:cNvPr id="6" name="Shape 3"/>
          <p:cNvSpPr/>
          <p:nvPr/>
        </p:nvSpPr>
        <p:spPr>
          <a:xfrm>
            <a:off x="914400" y="1828800"/>
            <a:ext cx="1280160" cy="1280160"/>
          </a:xfrm>
          <a:prstGeom prst="ellipse">
            <a:avLst/>
          </a:prstGeom>
          <a:solidFill>
            <a:srgbClr val="00A79D"/>
          </a:solidFill>
          <a:ln w="12700">
            <a:solidFill>
              <a:srgbClr val="00A79D"/>
            </a:solidFill>
            <a:prstDash val="solid"/>
          </a:ln>
        </p:spPr>
      </p:sp>
      <p:pic>
        <p:nvPicPr>
          <p:cNvPr id="7" name="Image 0" descr="preencoded.png"/>
          <p:cNvPicPr>
            <a:picLocks noChangeAspect="1"/>
          </p:cNvPicPr>
          <p:nvPr/>
        </p:nvPicPr>
        <p:blipFill>
          <a:blip r:embed="rId3"/>
          <a:stretch>
            <a:fillRect/>
          </a:stretch>
        </p:blipFill>
        <p:spPr>
          <a:xfrm>
            <a:off x="1234440" y="2148840"/>
            <a:ext cx="640080" cy="640080"/>
          </a:xfrm>
          <a:prstGeom prst="rect">
            <a:avLst/>
          </a:prstGeom>
        </p:spPr>
      </p:pic>
      <p:sp>
        <p:nvSpPr>
          <p:cNvPr id="8" name="Text 4"/>
          <p:cNvSpPr txBox="1"/>
          <p:nvPr/>
        </p:nvSpPr>
        <p:spPr>
          <a:xfrm>
            <a:off x="2377440" y="1828800"/>
            <a:ext cx="3291840" cy="128016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Задача</a:t>
            </a:r>
            <a:endParaRPr lang="en-US" sz="3400" dirty="0"/>
          </a:p>
        </p:txBody>
      </p:sp>
      <p:sp>
        <p:nvSpPr>
          <p:cNvPr id="9" name="Text 5"/>
          <p:cNvSpPr txBox="1"/>
          <p:nvPr/>
        </p:nvSpPr>
        <p:spPr>
          <a:xfrm>
            <a:off x="914400" y="3383280"/>
            <a:ext cx="4572000" cy="1920240"/>
          </a:xfrm>
          <a:prstGeom prst="rect">
            <a:avLst/>
          </a:prstGeom>
          <a:noFill/>
          <a:ln/>
        </p:spPr>
        <p:txBody>
          <a:bodyPr wrap="square" lIns="0" tIns="0" rIns="0" bIns="0" rtlCol="0" anchor="t"/>
          <a:lstStyle/>
          <a:p>
            <a:pPr marL="0" indent="0">
              <a:buNone/>
            </a:pPr>
            <a:r>
              <a:rPr lang="en-US" sz="3200" dirty="0">
                <a:solidFill>
                  <a:srgbClr val="CADCFC"/>
                </a:solidFill>
                <a:latin typeface="Calibri" pitchFamily="34" charset="0"/>
                <a:ea typeface="Calibri" pitchFamily="34" charset="-122"/>
                <a:cs typeface="Calibri" pitchFamily="34" charset="-120"/>
              </a:rPr>
              <a:t>Быстрый поиск и анализ больших данных</a:t>
            </a:r>
            <a:endParaRPr lang="en-US" sz="3200" dirty="0"/>
          </a:p>
        </p:txBody>
      </p:sp>
      <p:sp>
        <p:nvSpPr>
          <p:cNvPr id="10" name="Shape 6"/>
          <p:cNvSpPr/>
          <p:nvPr/>
        </p:nvSpPr>
        <p:spPr>
          <a:xfrm>
            <a:off x="6309360" y="1554480"/>
            <a:ext cx="5303520" cy="4023360"/>
          </a:xfrm>
          <a:prstGeom prst="roundRect">
            <a:avLst>
              <a:gd name="adj" fmla="val 3409"/>
            </a:avLst>
          </a:prstGeom>
          <a:solidFill>
            <a:srgbClr val="223056"/>
          </a:solidFill>
          <a:ln w="12700">
            <a:solidFill>
              <a:srgbClr val="223056"/>
            </a:solidFill>
            <a:prstDash val="solid"/>
          </a:ln>
        </p:spPr>
      </p:sp>
      <p:sp>
        <p:nvSpPr>
          <p:cNvPr id="11" name="Shape 7"/>
          <p:cNvSpPr/>
          <p:nvPr/>
        </p:nvSpPr>
        <p:spPr>
          <a:xfrm>
            <a:off x="6675120" y="1828800"/>
            <a:ext cx="1280160" cy="1280160"/>
          </a:xfrm>
          <a:prstGeom prst="ellipse">
            <a:avLst/>
          </a:prstGeom>
          <a:solidFill>
            <a:srgbClr val="FEC514"/>
          </a:solidFill>
          <a:ln w="12700">
            <a:solidFill>
              <a:srgbClr val="FEC514"/>
            </a:solidFill>
            <a:prstDash val="solid"/>
          </a:ln>
        </p:spPr>
      </p:sp>
      <p:pic>
        <p:nvPicPr>
          <p:cNvPr id="12" name="Image 1" descr="preencoded.png"/>
          <p:cNvPicPr>
            <a:picLocks noChangeAspect="1"/>
          </p:cNvPicPr>
          <p:nvPr/>
        </p:nvPicPr>
        <p:blipFill>
          <a:blip r:embed="rId4"/>
          <a:stretch>
            <a:fillRect/>
          </a:stretch>
        </p:blipFill>
        <p:spPr>
          <a:xfrm>
            <a:off x="6995160" y="2148840"/>
            <a:ext cx="640080" cy="640080"/>
          </a:xfrm>
          <a:prstGeom prst="rect">
            <a:avLst/>
          </a:prstGeom>
        </p:spPr>
      </p:pic>
      <p:sp>
        <p:nvSpPr>
          <p:cNvPr id="13" name="Text 8"/>
          <p:cNvSpPr txBox="1"/>
          <p:nvPr/>
        </p:nvSpPr>
        <p:spPr>
          <a:xfrm>
            <a:off x="8138160" y="1828800"/>
            <a:ext cx="3291840" cy="128016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Применение</a:t>
            </a:r>
            <a:endParaRPr lang="en-US" sz="3400" dirty="0"/>
          </a:p>
        </p:txBody>
      </p:sp>
      <p:sp>
        <p:nvSpPr>
          <p:cNvPr id="14" name="Text 9"/>
          <p:cNvSpPr txBox="1"/>
          <p:nvPr/>
        </p:nvSpPr>
        <p:spPr>
          <a:xfrm>
            <a:off x="6675120" y="3383280"/>
            <a:ext cx="4572000" cy="1920240"/>
          </a:xfrm>
          <a:prstGeom prst="rect">
            <a:avLst/>
          </a:prstGeom>
          <a:noFill/>
          <a:ln/>
        </p:spPr>
        <p:txBody>
          <a:bodyPr wrap="square" lIns="0" tIns="0" rIns="0" bIns="0" rtlCol="0" anchor="t"/>
          <a:lstStyle/>
          <a:p>
            <a:pPr marL="0" indent="0">
              <a:buNone/>
            </a:pPr>
            <a:r>
              <a:rPr lang="en-US" sz="3200" dirty="0">
                <a:solidFill>
                  <a:srgbClr val="CADCFC"/>
                </a:solidFill>
                <a:latin typeface="Calibri" pitchFamily="34" charset="0"/>
                <a:ea typeface="Calibri" pitchFamily="34" charset="-122"/>
                <a:cs typeface="Calibri" pitchFamily="34" charset="-120"/>
              </a:rPr>
              <a:t>Search · Observability · Security</a:t>
            </a:r>
            <a:endParaRPr lang="en-US" sz="3200" dirty="0"/>
          </a:p>
        </p:txBody>
      </p:sp>
      <p:sp>
        <p:nvSpPr>
          <p:cNvPr id="15" name="Text 10"/>
          <p:cNvSpPr txBox="1"/>
          <p:nvPr/>
        </p:nvSpPr>
        <p:spPr>
          <a:xfrm>
            <a:off x="548640" y="5806440"/>
            <a:ext cx="11064240" cy="731520"/>
          </a:xfrm>
          <a:prstGeom prst="rect">
            <a:avLst/>
          </a:prstGeom>
          <a:noFill/>
          <a:ln/>
        </p:spPr>
        <p:txBody>
          <a:bodyPr wrap="square" lIns="0" tIns="0" rIns="0" bIns="0"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Спасибо за внимание!</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2152</Words>
  <Application>Microsoft Office PowerPoint</Application>
  <PresentationFormat>Широкоэкранный</PresentationFormat>
  <Paragraphs>189</Paragraphs>
  <Slides>16</Slides>
  <Notes>16</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16</vt:i4>
      </vt:variant>
    </vt:vector>
  </HeadingPairs>
  <TitlesOfParts>
    <vt:vector size="20" baseType="lpstr">
      <vt:lpstr>Arial</vt:lpstr>
      <vt:lpstr>Calibri</vt:lpstr>
      <vt:lpstr>Courier New</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Elastic Stack</dc:title>
  <dc:subject>PptxGenJS Presentation</dc:subject>
  <dc:creator>PptxGenJS</dc:creator>
  <cp:lastModifiedBy>Никита Дицель</cp:lastModifiedBy>
  <cp:revision>4</cp:revision>
  <dcterms:created xsi:type="dcterms:W3CDTF">2026-09-19T20:41:31Z</dcterms:created>
  <dcterms:modified xsi:type="dcterms:W3CDTF">2026-09-19T20:50:08Z</dcterms:modified>
</cp:coreProperties>
</file>